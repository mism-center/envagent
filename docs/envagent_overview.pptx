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5ef6d9e1-f70d-bca7-ed87-34c8faa40e66}">
          <p14:sldIdLst>
            <p14:sldId id="256"/>
            <p14:sldId id="257"/>
          </p14:sldIdLst>
        </p14:section>
        <p14:section name="How it works" id="{da0750a6-c34c-a1ee-fb1e-6862cb331443}">
          <p14:sldIdLst>
            <p14:sldId id="258"/>
            <p14:sldId id="259"/>
            <p14:sldId id="260"/>
            <p14:sldId id="261"/>
            <p14:sldId id="262"/>
            <p14:sldId id="263"/>
          </p14:sldIdLst>
        </p14:section>
        <p14:section name="In MISM" id="{77803439-d61f-c119-4a70-bdd5504fcec5}">
          <p14:sldIdLst>
            <p14:sldId id="264"/>
            <p14:sldId id="265"/>
          </p14:sldIdLst>
        </p14:section>
        <p14:section name="Coverage" id="{9347636e-d23a-3daf-75c1-3d3ce5e4df42}">
          <p14:sldIdLst>
            <p14:sldId id="266"/>
            <p14:sldId id="267"/>
            <p14:sldId id="268"/>
          </p14:sldIdLst>
        </p14:section>
        <p14:section name="Default-1" id="{d034c5d6-5a45-0464-df0b-20295bf1bc3e}">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2A33"/>
                </a:solidFill>
                <a:latin typeface="+mn-lt"/>
              </a:defRPr>
            </a:pPr>
            <a:r>
              <a:rPr sz="1400" b="0" i="0" u="none" strike="noStrike">
                <a:solidFill>
                  <a:srgbClr val="0F2A33"/>
                </a:solidFill>
                <a:latin typeface="+mn-lt"/>
              </a:rPr>
              <a:t>Verified of 19 buildable models</a:t>
            </a:r>
          </a:p>
        </c:rich>
      </c:tx>
      <c:layout/>
      <c:overlay val="0"/>
    </c:title>
    <c:autoTitleDeleted val="0"/>
    <c:plotArea>
      <c:layout/>
      <c:barChart>
        <c:barDir val="col"/>
        <c:grouping val="clustered"/>
        <c:varyColors val="0"/>
        <c:ser>
          <c:idx val="0"/>
          <c:order val="0"/>
          <c:tx>
            <c:strRef>
              <c:f>Sheet1!$B$1</c:f>
              <c:strCache>
                <c:ptCount val="1"/>
                <c:pt idx="0">
                  <c:v>Verified</c:v>
                </c:pt>
              </c:strCache>
            </c:strRef>
          </c:tx>
          <c:spPr>
            <a:solidFill>
              <a:srgbClr val="1B7F79"/>
            </a:solidFill>
            <a:effectLst/>
          </c:spPr>
          <c:invertIfNegative val="0"/>
          <c:dLbls>
            <c:numFmt formatCode="#,##0" sourceLinked="0"/>
            <c:txPr>
              <a:bodyPr/>
              <a:lstStyle/>
              <a:p>
                <a:pPr>
                  <a:defRPr b="0" i="0" strike="noStrike" sz="1400" u="none">
                    <a:solidFill>
                      <a:srgbClr val="0F2A33"/>
                    </a:solidFill>
                    <a:latin typeface="+mn-lt"/>
                  </a:defRPr>
                </a:pPr>
              </a:p>
            </c:txPr>
            <c:showLegendKey val="0"/>
            <c:showVal val="1"/>
            <c:showCatName val="0"/>
            <c:showSerName val="0"/>
            <c:showPercent val="0"/>
            <c:showBubbleSize val="0"/>
            <c:showLeaderLines val="0"/>
          </c:dLbls>
          <c:cat>
            <c:multiLvlStrRef>
              <c:f>Sheet1!$A$2:$A$5</c:f>
              <c:multiLvlStrCache>
                <c:ptCount val="4"/>
                <c:lvl>
                  <c:pt idx="0">
                    <c:v>Pass 1</c:v>
                  </c:pt>
                  <c:pt idx="1">
                    <c:v>Pass 2</c:v>
                  </c:pt>
                  <c:pt idx="2">
                    <c:v>Pass 3</c:v>
                  </c:pt>
                  <c:pt idx="3">
                    <c:v>Pass 4</c:v>
                  </c:pt>
                </c:lvl>
              </c:multiLvlStrCache>
            </c:multiLvlStrRef>
          </c:cat>
          <c:val>
            <c:numRef>
              <c:f>Sheet1!$B$2:$B$5</c:f>
              <c:numCache>
                <c:formatCode>General</c:formatCode>
                <c:ptCount val="4"/>
                <c:pt idx="0">
                  <c:v>1</c:v>
                </c:pt>
                <c:pt idx="1">
                  <c:v>2</c:v>
                </c:pt>
                <c:pt idx="2">
                  <c:v>6</c:v>
                </c:pt>
                <c:pt idx="3">
                  <c:v>4</c:v>
                </c:pt>
              </c:numCache>
            </c:numRef>
          </c:val>
        </c:ser>
        <c:dLbls>
          <c:numFmt formatCode="#,##0" sourceLinked="0"/>
          <c:txPr>
            <a:bodyPr/>
            <a:lstStyle/>
            <a:p>
              <a:pPr>
                <a:defRPr b="0" i="0" strike="noStrike" sz="1400" u="none">
                  <a:solidFill>
                    <a:srgbClr val="0F2A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0F2A33"/>
                </a:solidFill>
                <a:latin typeface="+mn-lt"/>
              </a:defRPr>
            </a:pPr>
            <a:endParaRPr lang="en-US"/>
          </a:p>
        </c:txPr>
        <c:crossAx val="2094734552"/>
        <c:crosses val="autoZero"/>
        <c:auto val="1"/>
        <c:lblAlgn val="ctr"/>
        <c:noMultiLvlLbl val="1"/>
      </c:catAx>
      <c:valAx>
        <c:axId val="2094734552"/>
        <c:scaling>
          <c:orientation val="minMax"/>
          <c:max val="8"/>
        </c:scaling>
        <c:delete val="0"/>
        <c:axPos val="l"/>
        <c:majorGridlines>
          <c:spPr>
            <a:ln w="12700" cap="flat">
              <a:solidFill>
                <a:srgbClr val="EAF1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8086"/>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envagent is the component that turns an approved model annotation into a runnable container. Phase 0 status: working on a hold-out of 20 unseen repos, integration with model-discovery is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problem: models arrive as repos. The agent produces an image plus evidence it runs. The image is a dependency stack, model code is mounted at run time, so the unit of approval is the pair (image digest, code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loop left to right, then the failure branch. Key point: the agent never writes Dockerfile text, it emits an EnvSpec, so every repair is a one-field mutation and every failing build step maps back to the field that caused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Kubernetes surface is five calls: create pod, get pod, get log, delete pod, one access review. pods/exec is deliberately absent: an LLM-driven loop with pods/create plus pods/exec is arbitrary code execution in the namespace.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L1/L2 split matters: at L1 no code is mounted, so a missing module is a missing dependency. At L2 the same stderr can mean the mount is wrong. Conflating them would install a same-named PyPI package over the model's own module and ship a container that runs the wrong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Failure taxonomy has about twenty classes. Rule table (classify.py) carries the detection; routing and repair semantics live in specs/*.md so they can churn. Watch the classified_by distribution: dense 'llm' means the rule table is under-built.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matters for MISM: the builder produces evidence that lets annotation reviewers fix execution metadata (entry point, workdir, runtime, system libraries). Scientific description and ontology terms are not the builder's to touch.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 denial is only true if the cluster CNI enforces NetworkPolicy: that is proven separately from the manifest assertions.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trigger point is the human annotation review: the reviewed annotation supplies entry point, declared dependencies and expected outputs, which is what lifts quality of everything downstream. This slide is a proposal derived from envagent's existing Job interface; the model-discovery side is not built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Latency expectation from hold-out runs: 5 to 36 minutes per job, median 3 to 4 charged attempts. So the integration has to be asynchronous with a status field on the model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Status words are about what the loop can currently do, not about model quality. 'Escalates' means the job ends with a reason rather than a false green. Julia has a base-image row but is treated as an unsupported toolchain in the hold-out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Pre-registered expectation was half to two-thirds verified. Actual stable result is 4 of 19. The valuable output is the sorted failure list: harness bug, new mechanism, repo defect, rule-table entry. Fallback-to-LLM share was about 38 percent in pass 4, which says the rule table is still growing.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design items, not bugs: each is a family of models the loop does not yet have a typed action for. They are also the roadmap for broadening coverage.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trust boundary is the item most likely to block a wide rollout: the integration should only fire for reviewed, vouched registrations until isolation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F2A33"/>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DB4B8"/>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6B8086"/>
                </a:solidFill>
              </a:rPr>
              <a:t>envagent · MISM</a:t>
            </a:r>
            <a:endParaRPr lang="en-US" sz="1000" dirty="0"/>
          </a:p>
        </p:txBody>
      </p:sp>
      <p:sp>
        <p:nvSpPr>
          <p:cNvPr id="3" name="Text 1"/>
          <p:cNvSpPr/>
          <p:nvPr>
            <p:ph idx="101" type="title" hasCustomPrompt="1"/>
          </p:nvPr>
        </p:nvSpPr>
        <p:spPr>
          <a:xfrm>
            <a:off x="548640" y="365760"/>
            <a:ext cx="11064240" cy="822960"/>
          </a:xfrm>
          <a:prstGeom prst="rect">
            <a:avLst/>
          </a:prstGeom>
          <a:noFill/>
          <a:ln/>
        </p:spPr>
        <p:txBody>
          <a:bodyPr wrap="square" rtlCol="0"/>
          <a:lstStyle>
            <a:lvl1pPr algn="l" indent="0" marL="0">
              <a:buNone/>
              <a:defRPr lang="en-US" sz="3400" b="1" dirty="0">
                <a:solidFill>
                  <a:srgbClr val="0F2A33"/>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8086"/>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DB4B8"/>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737360"/>
            <a:ext cx="10515600" cy="1188720"/>
          </a:xfrm>
          <a:prstGeom prst="rect">
            <a:avLst/>
          </a:prstGeom>
          <a:noFill/>
          <a:ln/>
        </p:spPr>
        <p:txBody>
          <a:bodyPr wrap="square" lIns="0" tIns="0" rIns="0" bIns="0" rtlCol="0" anchor="ctr"/>
          <a:lstStyle/>
          <a:p>
            <a:pPr indent="0" marL="0">
              <a:buNone/>
            </a:pPr>
            <a:r>
              <a:rPr lang="en-US" sz="6600" b="1" dirty="0">
                <a:solidFill>
                  <a:schemeClr val="bg1"/>
                </a:solidFill>
                <a:latin typeface="Cambria" pitchFamily="34" charset="0"/>
                <a:ea typeface="Cambria" pitchFamily="34" charset="-122"/>
                <a:cs typeface="Cambria" pitchFamily="34" charset="-120"/>
              </a:rPr>
              <a:t>envagent</a:t>
            </a:r>
            <a:endParaRPr lang="en-US" sz="6600" dirty="0"/>
          </a:p>
        </p:txBody>
      </p:sp>
      <p:sp>
        <p:nvSpPr>
          <p:cNvPr id="3" name="Text 1"/>
          <p:cNvSpPr txBox="1"/>
          <p:nvPr/>
        </p:nvSpPr>
        <p:spPr>
          <a:xfrm>
            <a:off x="731520" y="3017520"/>
            <a:ext cx="9601200" cy="914400"/>
          </a:xfrm>
          <a:prstGeom prst="rect">
            <a:avLst/>
          </a:prstGeom>
          <a:noFill/>
          <a:ln/>
        </p:spPr>
        <p:txBody>
          <a:bodyPr wrap="square" lIns="0" tIns="0" rIns="0" bIns="0" rtlCol="0" anchor="t"/>
          <a:lstStyle/>
          <a:p>
            <a:pPr indent="0" marL="0">
              <a:buNone/>
            </a:pPr>
            <a:r>
              <a:rPr lang="en-US" sz="2800" dirty="0">
                <a:solidFill>
                  <a:srgbClr val="CADCDF"/>
                </a:solidFill>
              </a:rPr>
              <a:t>Automatic, verified execution environments for registered models</a:t>
            </a:r>
            <a:endParaRPr lang="en-US" sz="2800" dirty="0"/>
          </a:p>
        </p:txBody>
      </p:sp>
      <p:sp>
        <p:nvSpPr>
          <p:cNvPr id="4" name="Text 2"/>
          <p:cNvSpPr txBox="1"/>
          <p:nvPr/>
        </p:nvSpPr>
        <p:spPr>
          <a:xfrm>
            <a:off x="731520" y="4160520"/>
            <a:ext cx="9144000" cy="822960"/>
          </a:xfrm>
          <a:prstGeom prst="rect">
            <a:avLst/>
          </a:prstGeom>
          <a:noFill/>
          <a:ln/>
        </p:spPr>
        <p:txBody>
          <a:bodyPr wrap="square" lIns="0" tIns="0" rIns="0" bIns="0" rtlCol="0" anchor="t"/>
          <a:lstStyle/>
          <a:p>
            <a:pPr indent="0" marL="0">
              <a:buNone/>
            </a:pPr>
            <a:r>
              <a:rPr lang="en-US" sz="1800" dirty="0">
                <a:solidFill>
                  <a:srgbClr val="9DB4B8"/>
                </a:solidFill>
              </a:rPr>
              <a:t>How envbuild works, what it can and cannot build, and how it plugs into model-discovery</a:t>
            </a:r>
            <a:endParaRPr lang="en-US" sz="1800" dirty="0"/>
          </a:p>
        </p:txBody>
      </p:sp>
      <p:sp>
        <p:nvSpPr>
          <p:cNvPr id="5" name="Shape 3"/>
          <p:cNvSpPr/>
          <p:nvPr/>
        </p:nvSpPr>
        <p:spPr>
          <a:xfrm>
            <a:off x="731520" y="5577840"/>
            <a:ext cx="2560320" cy="365760"/>
          </a:xfrm>
          <a:prstGeom prst="roundRect">
            <a:avLst>
              <a:gd name="adj" fmla="val 50000"/>
            </a:avLst>
          </a:prstGeom>
          <a:solidFill>
            <a:srgbClr val="1B7F79"/>
          </a:solidFill>
          <a:ln/>
        </p:spPr>
      </p:sp>
      <p:sp>
        <p:nvSpPr>
          <p:cNvPr id="6" name="Text 4"/>
          <p:cNvSpPr txBox="1"/>
          <p:nvPr/>
        </p:nvSpPr>
        <p:spPr>
          <a:xfrm>
            <a:off x="731520" y="5577840"/>
            <a:ext cx="2560320" cy="365760"/>
          </a:xfrm>
          <a:prstGeom prst="rect">
            <a:avLst/>
          </a:prstGeom>
          <a:noFill/>
          <a:ln/>
        </p:spPr>
        <p:txBody>
          <a:bodyPr wrap="square" lIns="0" tIns="0" rIns="0" bIns="0" rtlCol="0" anchor="ctr"/>
          <a:lstStyle/>
          <a:p>
            <a:pPr algn="ctr" indent="0" marL="0">
              <a:buNone/>
            </a:pPr>
            <a:r>
              <a:rPr lang="en-US" sz="1300" b="1" dirty="0">
                <a:solidFill>
                  <a:srgbClr val="FFFFFF"/>
                </a:solidFill>
              </a:rPr>
              <a:t>MISM  ·  October 2026</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DB4B8"/>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rgbClr val="0F2A33"/>
                </a:solidFill>
              </a:rPr>
              <a:t>A registered model is not yet a runnable model</a:t>
            </a:r>
            <a:endParaRPr lang="en-US" sz="3400" dirty="0"/>
          </a:p>
        </p:txBody>
      </p:sp>
      <p:sp>
        <p:nvSpPr>
          <p:cNvPr id="3" name="card-0"/>
          <p:cNvSpPr/>
          <p:nvPr/>
        </p:nvSpPr>
        <p:spPr>
          <a:xfrm>
            <a:off x="548640" y="1554480"/>
            <a:ext cx="3566160" cy="3017520"/>
          </a:xfrm>
          <a:prstGeom prst="roundRect">
            <a:avLst>
              <a:gd name="adj" fmla="val 2424"/>
            </a:avLst>
          </a:prstGeom>
          <a:solidFill>
            <a:schemeClr val="bg2"/>
          </a:solidFill>
          <a:ln/>
          <a:effectLst>
            <a:outerShdw sx="100000" sy="100000" kx="0" ky="0" algn="bl" rotWithShape="0" blurRad="76200" dist="25400" dir="5400000">
              <a:srgbClr val="0F2A33">
                <a:alpha val="12000"/>
              </a:srgbClr>
            </a:outerShdw>
          </a:effectLst>
        </p:spPr>
      </p:sp>
      <p:sp>
        <p:nvSpPr>
          <p:cNvPr id="4" name="icon-0-bg"/>
          <p:cNvSpPr/>
          <p:nvPr/>
        </p:nvSpPr>
        <p:spPr>
          <a:xfrm>
            <a:off x="822960" y="1783080"/>
            <a:ext cx="640080" cy="640080"/>
          </a:xfrm>
          <a:prstGeom prst="ellipse">
            <a:avLst/>
          </a:prstGeom>
          <a:solidFill>
            <a:schemeClr val="accent4"/>
          </a:solidFill>
          <a:ln/>
        </p:spPr>
      </p:sp>
      <p:pic>
        <p:nvPicPr>
          <p:cNvPr id="5" name="icon-0" descr="icon-0">    </p:cNvPr>
          <p:cNvPicPr>
            <a:picLocks noChangeAspect="1"/>
          </p:cNvPicPr>
          <p:nvPr/>
        </p:nvPicPr>
        <p:blipFill>
          <a:blip r:embed="rId1"/>
          <a:stretch>
            <a:fillRect/>
          </a:stretch>
        </p:blipFill>
        <p:spPr>
          <a:xfrm>
            <a:off x="989381" y="1949501"/>
            <a:ext cx="307238" cy="307238"/>
          </a:xfrm>
          <a:prstGeom prst="rect">
            <a:avLst/>
          </a:prstGeom>
        </p:spPr>
      </p:pic>
      <p:sp>
        <p:nvSpPr>
          <p:cNvPr id="6" name="Text 3"/>
          <p:cNvSpPr txBox="1"/>
          <p:nvPr/>
        </p:nvSpPr>
        <p:spPr>
          <a:xfrm>
            <a:off x="822960" y="2606040"/>
            <a:ext cx="3017520" cy="365760"/>
          </a:xfrm>
          <a:prstGeom prst="rect">
            <a:avLst/>
          </a:prstGeom>
          <a:noFill/>
          <a:ln/>
        </p:spPr>
        <p:txBody>
          <a:bodyPr wrap="square" lIns="0" tIns="0" rIns="0" bIns="0" rtlCol="0" anchor="t"/>
          <a:lstStyle/>
          <a:p>
            <a:pPr indent="0" marL="0">
              <a:buNone/>
            </a:pPr>
            <a:r>
              <a:rPr lang="en-US" sz="2000" b="1" dirty="0">
                <a:solidFill>
                  <a:schemeClr val="tx1"/>
                </a:solidFill>
              </a:rPr>
              <a:t>What we receive</a:t>
            </a:r>
            <a:endParaRPr lang="en-US" sz="2000" dirty="0"/>
          </a:p>
        </p:txBody>
      </p:sp>
      <p:sp>
        <p:nvSpPr>
          <p:cNvPr id="7" name="Text 4"/>
          <p:cNvSpPr txBox="1"/>
          <p:nvPr/>
        </p:nvSpPr>
        <p:spPr>
          <a:xfrm>
            <a:off x="822960" y="3063240"/>
            <a:ext cx="3017520" cy="1371600"/>
          </a:xfrm>
          <a:prstGeom prst="rect">
            <a:avLst/>
          </a:prstGeom>
          <a:noFill/>
          <a:ln/>
        </p:spPr>
        <p:txBody>
          <a:bodyPr wrap="square" lIns="0" tIns="0" rIns="0" bIns="0" rtlCol="0" anchor="t"/>
          <a:lstStyle/>
          <a:p>
            <a:pPr indent="0" marL="0">
              <a:buNone/>
            </a:pPr>
            <a:r>
              <a:rPr lang="en-US" sz="1500" dirty="0">
                <a:solidFill>
                  <a:schemeClr val="tx1"/>
                </a:solidFill>
              </a:rPr>
              <a:t>A git repo plus a reviewed annotation YAML. Dependencies are declared loosely, or only implied by imports, a README and CI files.</a:t>
            </a:r>
            <a:endParaRPr lang="en-US" sz="1500" dirty="0"/>
          </a:p>
        </p:txBody>
      </p:sp>
      <p:sp>
        <p:nvSpPr>
          <p:cNvPr id="8" name="card-1"/>
          <p:cNvSpPr/>
          <p:nvPr/>
        </p:nvSpPr>
        <p:spPr>
          <a:xfrm>
            <a:off x="4297680" y="1554480"/>
            <a:ext cx="3566160" cy="3017520"/>
          </a:xfrm>
          <a:prstGeom prst="roundRect">
            <a:avLst>
              <a:gd name="adj" fmla="val 2424"/>
            </a:avLst>
          </a:prstGeom>
          <a:solidFill>
            <a:schemeClr val="bg2"/>
          </a:solidFill>
          <a:ln/>
          <a:effectLst>
            <a:outerShdw sx="100000" sy="100000" kx="0" ky="0" algn="bl" rotWithShape="0" blurRad="76200" dist="25400" dir="5400000">
              <a:srgbClr val="0F2A33">
                <a:alpha val="12000"/>
              </a:srgbClr>
            </a:outerShdw>
          </a:effectLst>
        </p:spPr>
      </p:sp>
      <p:sp>
        <p:nvSpPr>
          <p:cNvPr id="9" name="icon-1-bg"/>
          <p:cNvSpPr/>
          <p:nvPr/>
        </p:nvSpPr>
        <p:spPr>
          <a:xfrm>
            <a:off x="4572000" y="1783080"/>
            <a:ext cx="640080" cy="640080"/>
          </a:xfrm>
          <a:prstGeom prst="ellipse">
            <a:avLst/>
          </a:prstGeom>
          <a:solidFill>
            <a:schemeClr val="accent3"/>
          </a:solidFill>
          <a:ln/>
        </p:spPr>
      </p:sp>
      <p:pic>
        <p:nvPicPr>
          <p:cNvPr id="10" name="icon-1" descr="icon-1">    </p:cNvPr>
          <p:cNvPicPr>
            <a:picLocks noChangeAspect="1"/>
          </p:cNvPicPr>
          <p:nvPr/>
        </p:nvPicPr>
        <p:blipFill>
          <a:blip r:embed="rId2"/>
          <a:stretch>
            <a:fillRect/>
          </a:stretch>
        </p:blipFill>
        <p:spPr>
          <a:xfrm>
            <a:off x="4738421" y="1949501"/>
            <a:ext cx="307238" cy="307238"/>
          </a:xfrm>
          <a:prstGeom prst="rect">
            <a:avLst/>
          </a:prstGeom>
        </p:spPr>
      </p:pic>
      <p:sp>
        <p:nvSpPr>
          <p:cNvPr id="11" name="Text 7"/>
          <p:cNvSpPr txBox="1"/>
          <p:nvPr/>
        </p:nvSpPr>
        <p:spPr>
          <a:xfrm>
            <a:off x="4572000" y="2606040"/>
            <a:ext cx="3017520" cy="365760"/>
          </a:xfrm>
          <a:prstGeom prst="rect">
            <a:avLst/>
          </a:prstGeom>
          <a:noFill/>
          <a:ln/>
        </p:spPr>
        <p:txBody>
          <a:bodyPr wrap="square" lIns="0" tIns="0" rIns="0" bIns="0" rtlCol="0" anchor="t"/>
          <a:lstStyle/>
          <a:p>
            <a:pPr indent="0" marL="0">
              <a:buNone/>
            </a:pPr>
            <a:r>
              <a:rPr lang="en-US" sz="2000" b="1" dirty="0">
                <a:solidFill>
                  <a:schemeClr val="tx1"/>
                </a:solidFill>
              </a:rPr>
              <a:t>What is missing</a:t>
            </a:r>
            <a:endParaRPr lang="en-US" sz="2000" dirty="0"/>
          </a:p>
        </p:txBody>
      </p:sp>
      <p:sp>
        <p:nvSpPr>
          <p:cNvPr id="12" name="Text 8"/>
          <p:cNvSpPr txBox="1"/>
          <p:nvPr/>
        </p:nvSpPr>
        <p:spPr>
          <a:xfrm>
            <a:off x="4572000" y="3063240"/>
            <a:ext cx="3017520" cy="1371600"/>
          </a:xfrm>
          <a:prstGeom prst="rect">
            <a:avLst/>
          </a:prstGeom>
          <a:noFill/>
          <a:ln/>
        </p:spPr>
        <p:txBody>
          <a:bodyPr wrap="square" lIns="0" tIns="0" rIns="0" bIns="0" rtlCol="0" anchor="t"/>
          <a:lstStyle/>
          <a:p>
            <a:pPr indent="0" marL="0">
              <a:buNone/>
            </a:pPr>
            <a:r>
              <a:rPr lang="en-US" sz="1500" dirty="0">
                <a:solidFill>
                  <a:schemeClr val="tx1"/>
                </a:solidFill>
              </a:rPr>
              <a:t>Nobody has run it. No image, no proof the entry point works, no record of what had to be installed to make it work.</a:t>
            </a:r>
            <a:endParaRPr lang="en-US" sz="1500" dirty="0"/>
          </a:p>
        </p:txBody>
      </p:sp>
      <p:sp>
        <p:nvSpPr>
          <p:cNvPr id="13" name="card-2"/>
          <p:cNvSpPr/>
          <p:nvPr/>
        </p:nvSpPr>
        <p:spPr>
          <a:xfrm>
            <a:off x="8046720" y="1554480"/>
            <a:ext cx="3566160" cy="3017520"/>
          </a:xfrm>
          <a:prstGeom prst="roundRect">
            <a:avLst>
              <a:gd name="adj" fmla="val 2424"/>
            </a:avLst>
          </a:prstGeom>
          <a:solidFill>
            <a:schemeClr val="bg2"/>
          </a:solidFill>
          <a:ln/>
          <a:effectLst>
            <a:outerShdw sx="100000" sy="100000" kx="0" ky="0" algn="bl" rotWithShape="0" blurRad="76200" dist="25400" dir="5400000">
              <a:srgbClr val="0F2A33">
                <a:alpha val="12000"/>
              </a:srgbClr>
            </a:outerShdw>
          </a:effectLst>
        </p:spPr>
      </p:sp>
      <p:sp>
        <p:nvSpPr>
          <p:cNvPr id="14" name="icon-2-bg"/>
          <p:cNvSpPr/>
          <p:nvPr/>
        </p:nvSpPr>
        <p:spPr>
          <a:xfrm>
            <a:off x="8321040" y="1783080"/>
            <a:ext cx="640080" cy="640080"/>
          </a:xfrm>
          <a:prstGeom prst="ellipse">
            <a:avLst/>
          </a:prstGeom>
          <a:solidFill>
            <a:schemeClr val="accent1"/>
          </a:solidFill>
          <a:ln/>
        </p:spPr>
      </p:sp>
      <p:pic>
        <p:nvPicPr>
          <p:cNvPr id="15" name="icon-2" descr="icon-2">    </p:cNvPr>
          <p:cNvPicPr>
            <a:picLocks noChangeAspect="1"/>
          </p:cNvPicPr>
          <p:nvPr/>
        </p:nvPicPr>
        <p:blipFill>
          <a:blip r:embed="rId3"/>
          <a:stretch>
            <a:fillRect/>
          </a:stretch>
        </p:blipFill>
        <p:spPr>
          <a:xfrm>
            <a:off x="8487461" y="1949501"/>
            <a:ext cx="307238" cy="307238"/>
          </a:xfrm>
          <a:prstGeom prst="rect">
            <a:avLst/>
          </a:prstGeom>
        </p:spPr>
      </p:pic>
      <p:sp>
        <p:nvSpPr>
          <p:cNvPr id="16" name="Text 11"/>
          <p:cNvSpPr txBox="1"/>
          <p:nvPr/>
        </p:nvSpPr>
        <p:spPr>
          <a:xfrm>
            <a:off x="8321040" y="2606040"/>
            <a:ext cx="3017520" cy="365760"/>
          </a:xfrm>
          <a:prstGeom prst="rect">
            <a:avLst/>
          </a:prstGeom>
          <a:noFill/>
          <a:ln/>
        </p:spPr>
        <p:txBody>
          <a:bodyPr wrap="square" lIns="0" tIns="0" rIns="0" bIns="0" rtlCol="0" anchor="t"/>
          <a:lstStyle/>
          <a:p>
            <a:pPr indent="0" marL="0">
              <a:buNone/>
            </a:pPr>
            <a:r>
              <a:rPr lang="en-US" sz="2000" b="1" dirty="0">
                <a:solidFill>
                  <a:schemeClr val="tx1"/>
                </a:solidFill>
              </a:rPr>
              <a:t>What envagent produces</a:t>
            </a:r>
            <a:endParaRPr lang="en-US" sz="2000" dirty="0"/>
          </a:p>
        </p:txBody>
      </p:sp>
      <p:sp>
        <p:nvSpPr>
          <p:cNvPr id="17" name="Text 12"/>
          <p:cNvSpPr txBox="1"/>
          <p:nvPr/>
        </p:nvSpPr>
        <p:spPr>
          <a:xfrm>
            <a:off x="8321040" y="3063240"/>
            <a:ext cx="3017520" cy="1371600"/>
          </a:xfrm>
          <a:prstGeom prst="rect">
            <a:avLst/>
          </a:prstGeom>
          <a:noFill/>
          <a:ln/>
        </p:spPr>
        <p:txBody>
          <a:bodyPr wrap="square" lIns="0" tIns="0" rIns="0" bIns="0" rtlCol="0" anchor="t"/>
          <a:lstStyle/>
          <a:p>
            <a:pPr indent="0" marL="0">
              <a:buNone/>
            </a:pPr>
            <a:r>
              <a:rPr lang="en-US" sz="1500" dirty="0">
                <a:solidFill>
                  <a:schemeClr val="tx1"/>
                </a:solidFill>
              </a:rPr>
              <a:t>A dependency image addressed by digest, a verification level (L0 to L3), and a complete record of every attempt along the way.</a:t>
            </a:r>
            <a:endParaRPr lang="en-US" sz="1500" dirty="0"/>
          </a:p>
        </p:txBody>
      </p:sp>
      <p:sp>
        <p:nvSpPr>
          <p:cNvPr id="18" name="Text 13"/>
          <p:cNvSpPr txBox="1"/>
          <p:nvPr/>
        </p:nvSpPr>
        <p:spPr>
          <a:xfrm>
            <a:off x="548640" y="5029200"/>
            <a:ext cx="11064240" cy="822960"/>
          </a:xfrm>
          <a:prstGeom prst="rect">
            <a:avLst/>
          </a:prstGeom>
          <a:noFill/>
          <a:ln/>
        </p:spPr>
        <p:txBody>
          <a:bodyPr wrap="square" lIns="0" tIns="0" rIns="0" bIns="0" rtlCol="0" anchor="ctr"/>
          <a:lstStyle/>
          <a:p>
            <a:pPr indent="0" marL="0">
              <a:buNone/>
            </a:pPr>
            <a:r>
              <a:rPr lang="en-US" sz="2000" b="1" dirty="0">
                <a:solidFill>
                  <a:schemeClr val="accent1"/>
                </a:solidFill>
              </a:rPr>
              <a:t>Thesis: </a:t>
            </a:r>
            <a:pPr indent="0" marL="0">
              <a:buNone/>
            </a:pPr>
            <a:r>
              <a:rPr lang="en-US" sz="2000" dirty="0">
                <a:solidFill>
                  <a:schemeClr val="tx1"/>
                </a:solidFill>
              </a:rPr>
              <a:t>building an environment is search with verification. The loop is the product; the Dockerfile is only the current candidate.</a:t>
            </a:r>
            <a:endParaRPr lang="en-US" sz="2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808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rgbClr val="0F2A33"/>
                </a:solidFill>
              </a:rPr>
              <a:t>Search with verification</a:t>
            </a:r>
            <a:endParaRPr lang="en-US" sz="3400" dirty="0"/>
          </a:p>
        </p:txBody>
      </p:sp>
      <p:sp>
        <p:nvSpPr>
          <p:cNvPr id="3" name="step-0"/>
          <p:cNvSpPr/>
          <p:nvPr/>
        </p:nvSpPr>
        <p:spPr>
          <a:xfrm>
            <a:off x="594360" y="1554480"/>
            <a:ext cx="1828800" cy="1645920"/>
          </a:xfrm>
          <a:prstGeom prst="roundRect">
            <a:avLst>
              <a:gd name="adj" fmla="val 4444"/>
            </a:avLst>
          </a:prstGeom>
          <a:solidFill>
            <a:schemeClr val="accent5"/>
          </a:solidFill>
          <a:ln/>
          <a:effectLst>
            <a:outerShdw sx="100000" sy="100000" kx="0" ky="0" algn="bl" rotWithShape="0" blurRad="76200" dist="25400" dir="5400000">
              <a:srgbClr val="0F2A33">
                <a:alpha val="12000"/>
              </a:srgbClr>
            </a:outerShdw>
          </a:effectLst>
        </p:spPr>
      </p:sp>
      <p:sp>
        <p:nvSpPr>
          <p:cNvPr id="4" name="Text 2"/>
          <p:cNvSpPr txBox="1"/>
          <p:nvPr/>
        </p:nvSpPr>
        <p:spPr>
          <a:xfrm>
            <a:off x="731520" y="1664208"/>
            <a:ext cx="1554480" cy="365760"/>
          </a:xfrm>
          <a:prstGeom prst="rect">
            <a:avLst/>
          </a:prstGeom>
          <a:noFill/>
          <a:ln/>
        </p:spPr>
        <p:txBody>
          <a:bodyPr wrap="square" lIns="0" tIns="0" rIns="0" bIns="0" rtlCol="0" anchor="t"/>
          <a:lstStyle/>
          <a:p>
            <a:pPr indent="0" marL="0">
              <a:buNone/>
            </a:pPr>
            <a:r>
              <a:rPr lang="en-US" sz="1600" b="1" dirty="0">
                <a:solidFill>
                  <a:schemeClr val="bg1"/>
                </a:solidFill>
              </a:rPr>
              <a:t>1  Scan</a:t>
            </a:r>
            <a:endParaRPr lang="en-US" sz="1600" dirty="0"/>
          </a:p>
        </p:txBody>
      </p:sp>
      <p:sp>
        <p:nvSpPr>
          <p:cNvPr id="5" name="Text 3"/>
          <p:cNvSpPr txBox="1"/>
          <p:nvPr/>
        </p:nvSpPr>
        <p:spPr>
          <a:xfrm>
            <a:off x="731520" y="2057400"/>
            <a:ext cx="1554480" cy="1097280"/>
          </a:xfrm>
          <a:prstGeom prst="rect">
            <a:avLst/>
          </a:prstGeom>
          <a:noFill/>
          <a:ln/>
        </p:spPr>
        <p:txBody>
          <a:bodyPr wrap="square" lIns="0" tIns="0" rIns="0" bIns="0" rtlCol="0" anchor="t"/>
          <a:lstStyle/>
          <a:p>
            <a:pPr indent="0" marL="0">
              <a:buNone/>
            </a:pPr>
            <a:r>
              <a:rPr lang="en-US" sz="1400" dirty="0">
                <a:solidFill>
                  <a:schemeClr val="bg1"/>
                </a:solidFill>
              </a:rPr>
              <a:t>Read repo evidence, pick base image, draft an EnvSpec</a:t>
            </a:r>
            <a:endParaRPr lang="en-US" sz="1400" dirty="0"/>
          </a:p>
        </p:txBody>
      </p:sp>
      <p:sp>
        <p:nvSpPr>
          <p:cNvPr id="6" name="Shape 4"/>
          <p:cNvSpPr/>
          <p:nvPr/>
        </p:nvSpPr>
        <p:spPr>
          <a:xfrm>
            <a:off x="2423160" y="2377440"/>
            <a:ext cx="457200" cy="0"/>
          </a:xfrm>
          <a:prstGeom prst="line">
            <a:avLst/>
          </a:prstGeom>
          <a:noFill/>
          <a:ln w="25400">
            <a:solidFill>
              <a:schemeClr val="accent5"/>
            </a:solidFill>
            <a:prstDash val="solid"/>
            <a:tailEnd type="triangle"/>
          </a:ln>
        </p:spPr>
      </p:sp>
      <p:sp>
        <p:nvSpPr>
          <p:cNvPr id="7" name="step-1"/>
          <p:cNvSpPr/>
          <p:nvPr/>
        </p:nvSpPr>
        <p:spPr>
          <a:xfrm>
            <a:off x="2880360" y="1554480"/>
            <a:ext cx="1828800" cy="1645920"/>
          </a:xfrm>
          <a:prstGeom prst="roundRect">
            <a:avLst>
              <a:gd name="adj" fmla="val 4444"/>
            </a:avLst>
          </a:prstGeom>
          <a:solidFill>
            <a:schemeClr val="accent4"/>
          </a:solidFill>
          <a:ln/>
          <a:effectLst>
            <a:outerShdw sx="100000" sy="100000" kx="0" ky="0" algn="bl" rotWithShape="0" blurRad="76200" dist="25400" dir="5400000">
              <a:srgbClr val="0F2A33">
                <a:alpha val="12000"/>
              </a:srgbClr>
            </a:outerShdw>
          </a:effectLst>
        </p:spPr>
      </p:sp>
      <p:sp>
        <p:nvSpPr>
          <p:cNvPr id="8" name="Text 6"/>
          <p:cNvSpPr txBox="1"/>
          <p:nvPr/>
        </p:nvSpPr>
        <p:spPr>
          <a:xfrm>
            <a:off x="3017520" y="1664208"/>
            <a:ext cx="1554480" cy="365760"/>
          </a:xfrm>
          <a:prstGeom prst="rect">
            <a:avLst/>
          </a:prstGeom>
          <a:noFill/>
          <a:ln/>
        </p:spPr>
        <p:txBody>
          <a:bodyPr wrap="square" lIns="0" tIns="0" rIns="0" bIns="0" rtlCol="0" anchor="t"/>
          <a:lstStyle/>
          <a:p>
            <a:pPr indent="0" marL="0">
              <a:buNone/>
            </a:pPr>
            <a:r>
              <a:rPr lang="en-US" sz="1600" b="1" dirty="0">
                <a:solidFill>
                  <a:schemeClr val="bg1"/>
                </a:solidFill>
              </a:rPr>
              <a:t>2  Synthesize</a:t>
            </a:r>
            <a:endParaRPr lang="en-US" sz="1600" dirty="0"/>
          </a:p>
        </p:txBody>
      </p:sp>
      <p:sp>
        <p:nvSpPr>
          <p:cNvPr id="9" name="Text 7"/>
          <p:cNvSpPr txBox="1"/>
          <p:nvPr/>
        </p:nvSpPr>
        <p:spPr>
          <a:xfrm>
            <a:off x="3017520" y="2057400"/>
            <a:ext cx="1554480" cy="1097280"/>
          </a:xfrm>
          <a:prstGeom prst="rect">
            <a:avLst/>
          </a:prstGeom>
          <a:noFill/>
          <a:ln/>
        </p:spPr>
        <p:txBody>
          <a:bodyPr wrap="square" lIns="0" tIns="0" rIns="0" bIns="0" rtlCol="0" anchor="t"/>
          <a:lstStyle/>
          <a:p>
            <a:pPr indent="0" marL="0">
              <a:buNone/>
            </a:pPr>
            <a:r>
              <a:rPr lang="en-US" sz="1400" dirty="0">
                <a:solidFill>
                  <a:schemeClr val="bg1"/>
                </a:solidFill>
              </a:rPr>
              <a:t>Agent writes the EnvSpec as structured data</a:t>
            </a:r>
            <a:endParaRPr lang="en-US" sz="1400" dirty="0"/>
          </a:p>
        </p:txBody>
      </p:sp>
      <p:sp>
        <p:nvSpPr>
          <p:cNvPr id="10" name="Shape 8"/>
          <p:cNvSpPr/>
          <p:nvPr/>
        </p:nvSpPr>
        <p:spPr>
          <a:xfrm>
            <a:off x="4709160" y="2377440"/>
            <a:ext cx="457200" cy="0"/>
          </a:xfrm>
          <a:prstGeom prst="line">
            <a:avLst/>
          </a:prstGeom>
          <a:noFill/>
          <a:ln w="25400">
            <a:solidFill>
              <a:schemeClr val="accent5"/>
            </a:solidFill>
            <a:prstDash val="solid"/>
            <a:tailEnd type="triangle"/>
          </a:ln>
        </p:spPr>
      </p:sp>
      <p:sp>
        <p:nvSpPr>
          <p:cNvPr id="11" name="step-2"/>
          <p:cNvSpPr/>
          <p:nvPr/>
        </p:nvSpPr>
        <p:spPr>
          <a:xfrm>
            <a:off x="5166360" y="1554480"/>
            <a:ext cx="1828800" cy="1645920"/>
          </a:xfrm>
          <a:prstGeom prst="roundRect">
            <a:avLst>
              <a:gd name="adj" fmla="val 4444"/>
            </a:avLst>
          </a:prstGeom>
          <a:solidFill>
            <a:schemeClr val="accent1"/>
          </a:solidFill>
          <a:ln/>
          <a:effectLst>
            <a:outerShdw sx="100000" sy="100000" kx="0" ky="0" algn="bl" rotWithShape="0" blurRad="76200" dist="25400" dir="5400000">
              <a:srgbClr val="0F2A33">
                <a:alpha val="12000"/>
              </a:srgbClr>
            </a:outerShdw>
          </a:effectLst>
        </p:spPr>
      </p:sp>
      <p:sp>
        <p:nvSpPr>
          <p:cNvPr id="12" name="Text 10"/>
          <p:cNvSpPr txBox="1"/>
          <p:nvPr/>
        </p:nvSpPr>
        <p:spPr>
          <a:xfrm>
            <a:off x="5303520" y="1664208"/>
            <a:ext cx="1554480" cy="365760"/>
          </a:xfrm>
          <a:prstGeom prst="rect">
            <a:avLst/>
          </a:prstGeom>
          <a:noFill/>
          <a:ln/>
        </p:spPr>
        <p:txBody>
          <a:bodyPr wrap="square" lIns="0" tIns="0" rIns="0" bIns="0" rtlCol="0" anchor="t"/>
          <a:lstStyle/>
          <a:p>
            <a:pPr indent="0" marL="0">
              <a:buNone/>
            </a:pPr>
            <a:r>
              <a:rPr lang="en-US" sz="1600" b="1" dirty="0">
                <a:solidFill>
                  <a:schemeClr val="bg1"/>
                </a:solidFill>
              </a:rPr>
              <a:t>3  Build</a:t>
            </a:r>
            <a:endParaRPr lang="en-US" sz="1600" dirty="0"/>
          </a:p>
        </p:txBody>
      </p:sp>
      <p:sp>
        <p:nvSpPr>
          <p:cNvPr id="13" name="Text 11"/>
          <p:cNvSpPr txBox="1"/>
          <p:nvPr/>
        </p:nvSpPr>
        <p:spPr>
          <a:xfrm>
            <a:off x="5303520" y="2057400"/>
            <a:ext cx="1554480" cy="1097280"/>
          </a:xfrm>
          <a:prstGeom prst="rect">
            <a:avLst/>
          </a:prstGeom>
          <a:noFill/>
          <a:ln/>
        </p:spPr>
        <p:txBody>
          <a:bodyPr wrap="square" lIns="0" tIns="0" rIns="0" bIns="0" rtlCol="0" anchor="t"/>
          <a:lstStyle/>
          <a:p>
            <a:pPr indent="0" marL="0">
              <a:buNone/>
            </a:pPr>
            <a:r>
              <a:rPr lang="en-US" sz="1400" dirty="0">
                <a:solidFill>
                  <a:schemeClr val="bg1"/>
                </a:solidFill>
              </a:rPr>
              <a:t>Kaniko pod builds and pushes the image (L0)</a:t>
            </a:r>
            <a:endParaRPr lang="en-US" sz="1400" dirty="0"/>
          </a:p>
        </p:txBody>
      </p:sp>
      <p:sp>
        <p:nvSpPr>
          <p:cNvPr id="14" name="Shape 12"/>
          <p:cNvSpPr/>
          <p:nvPr/>
        </p:nvSpPr>
        <p:spPr>
          <a:xfrm>
            <a:off x="6995160" y="2377440"/>
            <a:ext cx="457200" cy="0"/>
          </a:xfrm>
          <a:prstGeom prst="line">
            <a:avLst/>
          </a:prstGeom>
          <a:noFill/>
          <a:ln w="25400">
            <a:solidFill>
              <a:schemeClr val="accent5"/>
            </a:solidFill>
            <a:prstDash val="solid"/>
            <a:tailEnd type="triangle"/>
          </a:ln>
        </p:spPr>
      </p:sp>
      <p:sp>
        <p:nvSpPr>
          <p:cNvPr id="15" name="step-3"/>
          <p:cNvSpPr/>
          <p:nvPr/>
        </p:nvSpPr>
        <p:spPr>
          <a:xfrm>
            <a:off x="7452360" y="1554480"/>
            <a:ext cx="1828800" cy="1645920"/>
          </a:xfrm>
          <a:prstGeom prst="roundRect">
            <a:avLst>
              <a:gd name="adj" fmla="val 4444"/>
            </a:avLst>
          </a:prstGeom>
          <a:solidFill>
            <a:schemeClr val="accent1"/>
          </a:solidFill>
          <a:ln/>
          <a:effectLst>
            <a:outerShdw sx="100000" sy="100000" kx="0" ky="0" algn="bl" rotWithShape="0" blurRad="76200" dist="25400" dir="5400000">
              <a:srgbClr val="0F2A33">
                <a:alpha val="12000"/>
              </a:srgbClr>
            </a:outerShdw>
          </a:effectLst>
        </p:spPr>
      </p:sp>
      <p:sp>
        <p:nvSpPr>
          <p:cNvPr id="16" name="Text 14"/>
          <p:cNvSpPr txBox="1"/>
          <p:nvPr/>
        </p:nvSpPr>
        <p:spPr>
          <a:xfrm>
            <a:off x="7589520" y="1664208"/>
            <a:ext cx="1554480" cy="365760"/>
          </a:xfrm>
          <a:prstGeom prst="rect">
            <a:avLst/>
          </a:prstGeom>
          <a:noFill/>
          <a:ln/>
        </p:spPr>
        <p:txBody>
          <a:bodyPr wrap="square" lIns="0" tIns="0" rIns="0" bIns="0" rtlCol="0" anchor="t"/>
          <a:lstStyle/>
          <a:p>
            <a:pPr indent="0" marL="0">
              <a:buNone/>
            </a:pPr>
            <a:r>
              <a:rPr lang="en-US" sz="1600" b="1" dirty="0">
                <a:solidFill>
                  <a:schemeClr val="bg1"/>
                </a:solidFill>
              </a:rPr>
              <a:t>4  Verify</a:t>
            </a:r>
            <a:endParaRPr lang="en-US" sz="1600" dirty="0"/>
          </a:p>
        </p:txBody>
      </p:sp>
      <p:sp>
        <p:nvSpPr>
          <p:cNvPr id="17" name="Text 15"/>
          <p:cNvSpPr txBox="1"/>
          <p:nvPr/>
        </p:nvSpPr>
        <p:spPr>
          <a:xfrm>
            <a:off x="7589520" y="2057400"/>
            <a:ext cx="1554480" cy="1097280"/>
          </a:xfrm>
          <a:prstGeom prst="rect">
            <a:avLst/>
          </a:prstGeom>
          <a:noFill/>
          <a:ln/>
        </p:spPr>
        <p:txBody>
          <a:bodyPr wrap="square" lIns="0" tIns="0" rIns="0" bIns="0" rtlCol="0" anchor="t"/>
          <a:lstStyle/>
          <a:p>
            <a:pPr indent="0" marL="0">
              <a:buNone/>
            </a:pPr>
            <a:r>
              <a:rPr lang="en-US" sz="1400" dirty="0">
                <a:solidFill>
                  <a:schemeClr val="bg1"/>
                </a:solidFill>
              </a:rPr>
              <a:t>Fresh pods climb L1, L2, L3 with network off</a:t>
            </a:r>
            <a:endParaRPr lang="en-US" sz="1400" dirty="0"/>
          </a:p>
        </p:txBody>
      </p:sp>
      <p:sp>
        <p:nvSpPr>
          <p:cNvPr id="18" name="Shape 16"/>
          <p:cNvSpPr/>
          <p:nvPr/>
        </p:nvSpPr>
        <p:spPr>
          <a:xfrm>
            <a:off x="9281160" y="2377440"/>
            <a:ext cx="457200" cy="0"/>
          </a:xfrm>
          <a:prstGeom prst="line">
            <a:avLst/>
          </a:prstGeom>
          <a:noFill/>
          <a:ln w="25400">
            <a:solidFill>
              <a:schemeClr val="accent5"/>
            </a:solidFill>
            <a:prstDash val="solid"/>
            <a:tailEnd type="triangle"/>
          </a:ln>
        </p:spPr>
      </p:sp>
      <p:sp>
        <p:nvSpPr>
          <p:cNvPr id="19" name="step-4"/>
          <p:cNvSpPr/>
          <p:nvPr/>
        </p:nvSpPr>
        <p:spPr>
          <a:xfrm>
            <a:off x="9738360" y="1554480"/>
            <a:ext cx="1828800" cy="1645920"/>
          </a:xfrm>
          <a:prstGeom prst="roundRect">
            <a:avLst>
              <a:gd name="adj" fmla="val 4444"/>
            </a:avLst>
          </a:prstGeom>
          <a:solidFill>
            <a:schemeClr val="accent6"/>
          </a:solidFill>
          <a:ln/>
          <a:effectLst>
            <a:outerShdw sx="100000" sy="100000" kx="0" ky="0" algn="bl" rotWithShape="0" blurRad="76200" dist="25400" dir="5400000">
              <a:srgbClr val="0F2A33">
                <a:alpha val="12000"/>
              </a:srgbClr>
            </a:outerShdw>
          </a:effectLst>
        </p:spPr>
      </p:sp>
      <p:sp>
        <p:nvSpPr>
          <p:cNvPr id="20" name="Text 18"/>
          <p:cNvSpPr txBox="1"/>
          <p:nvPr/>
        </p:nvSpPr>
        <p:spPr>
          <a:xfrm>
            <a:off x="9875520" y="1664208"/>
            <a:ext cx="1554480" cy="365760"/>
          </a:xfrm>
          <a:prstGeom prst="rect">
            <a:avLst/>
          </a:prstGeom>
          <a:noFill/>
          <a:ln/>
        </p:spPr>
        <p:txBody>
          <a:bodyPr wrap="square" lIns="0" tIns="0" rIns="0" bIns="0" rtlCol="0" anchor="t"/>
          <a:lstStyle/>
          <a:p>
            <a:pPr indent="0" marL="0">
              <a:buNone/>
            </a:pPr>
            <a:r>
              <a:rPr lang="en-US" sz="1600" b="1" dirty="0">
                <a:solidFill>
                  <a:schemeClr val="bg1"/>
                </a:solidFill>
              </a:rPr>
              <a:t>5  Verdict</a:t>
            </a:r>
            <a:endParaRPr lang="en-US" sz="1600" dirty="0"/>
          </a:p>
        </p:txBody>
      </p:sp>
      <p:sp>
        <p:nvSpPr>
          <p:cNvPr id="21" name="Text 19"/>
          <p:cNvSpPr txBox="1"/>
          <p:nvPr/>
        </p:nvSpPr>
        <p:spPr>
          <a:xfrm>
            <a:off x="9875520" y="2057400"/>
            <a:ext cx="1554480" cy="1097280"/>
          </a:xfrm>
          <a:prstGeom prst="rect">
            <a:avLst/>
          </a:prstGeom>
          <a:noFill/>
          <a:ln/>
        </p:spPr>
        <p:txBody>
          <a:bodyPr wrap="square" lIns="0" tIns="0" rIns="0" bIns="0" rtlCol="0" anchor="t"/>
          <a:lstStyle/>
          <a:p>
            <a:pPr indent="0" marL="0">
              <a:buNone/>
            </a:pPr>
            <a:r>
              <a:rPr lang="en-US" sz="1400" dirty="0">
                <a:solidFill>
                  <a:schemeClr val="bg1"/>
                </a:solidFill>
              </a:rPr>
              <a:t>Digest, level and lockfile are recorded</a:t>
            </a:r>
            <a:endParaRPr lang="en-US" sz="1400" dirty="0"/>
          </a:p>
        </p:txBody>
      </p:sp>
      <p:sp>
        <p:nvSpPr>
          <p:cNvPr id="22" name="classify"/>
          <p:cNvSpPr/>
          <p:nvPr/>
        </p:nvSpPr>
        <p:spPr>
          <a:xfrm>
            <a:off x="7315200" y="4114800"/>
            <a:ext cx="2194560" cy="1097280"/>
          </a:xfrm>
          <a:prstGeom prst="roundRect">
            <a:avLst>
              <a:gd name="adj" fmla="val 6667"/>
            </a:avLst>
          </a:prstGeom>
          <a:solidFill>
            <a:schemeClr val="bg2"/>
          </a:solidFill>
          <a:ln/>
          <a:effectLst>
            <a:outerShdw sx="100000" sy="100000" kx="0" ky="0" algn="bl" rotWithShape="0" blurRad="76200" dist="25400" dir="5400000">
              <a:srgbClr val="0F2A33">
                <a:alpha val="12000"/>
              </a:srgbClr>
            </a:outerShdw>
          </a:effectLst>
        </p:spPr>
      </p:sp>
      <p:sp>
        <p:nvSpPr>
          <p:cNvPr id="23" name="Text 21"/>
          <p:cNvSpPr txBox="1"/>
          <p:nvPr/>
        </p:nvSpPr>
        <p:spPr>
          <a:xfrm>
            <a:off x="7452360" y="4206240"/>
            <a:ext cx="1920240" cy="914400"/>
          </a:xfrm>
          <a:prstGeom prst="rect">
            <a:avLst/>
          </a:prstGeom>
          <a:noFill/>
          <a:ln/>
        </p:spPr>
        <p:txBody>
          <a:bodyPr wrap="square" lIns="0" tIns="0" rIns="0" bIns="0" rtlCol="0" anchor="t"/>
          <a:lstStyle/>
          <a:p>
            <a:pPr indent="0" marL="0">
              <a:buNone/>
            </a:pPr>
            <a:r>
              <a:rPr lang="en-US" sz="1600" b="1" dirty="0">
                <a:solidFill>
                  <a:schemeClr val="tx1"/>
                </a:solidFill>
              </a:rPr>
              <a:t>Classify</a:t>
            </a:r>
            <a:endParaRPr lang="en-US" sz="1400" dirty="0"/>
          </a:p>
          <a:p>
            <a:pPr indent="0" marL="0">
              <a:buNone/>
            </a:pPr>
            <a:r>
              <a:rPr lang="en-US" sz="1400" dirty="0">
                <a:solidFill>
                  <a:schemeClr val="tx1"/>
                </a:solidFill>
              </a:rPr>
              <a:t>Rule table first, agent as fallback</a:t>
            </a:r>
            <a:endParaRPr lang="en-US" sz="1400" dirty="0"/>
          </a:p>
        </p:txBody>
      </p:sp>
      <p:sp>
        <p:nvSpPr>
          <p:cNvPr id="24" name="repair"/>
          <p:cNvSpPr/>
          <p:nvPr/>
        </p:nvSpPr>
        <p:spPr>
          <a:xfrm>
            <a:off x="4526280" y="4114800"/>
            <a:ext cx="2194560" cy="1097280"/>
          </a:xfrm>
          <a:prstGeom prst="roundRect">
            <a:avLst>
              <a:gd name="adj" fmla="val 6667"/>
            </a:avLst>
          </a:prstGeom>
          <a:solidFill>
            <a:schemeClr val="bg2"/>
          </a:solidFill>
          <a:ln/>
          <a:effectLst>
            <a:outerShdw sx="100000" sy="100000" kx="0" ky="0" algn="bl" rotWithShape="0" blurRad="76200" dist="25400" dir="5400000">
              <a:srgbClr val="0F2A33">
                <a:alpha val="12000"/>
              </a:srgbClr>
            </a:outerShdw>
          </a:effectLst>
        </p:spPr>
      </p:sp>
      <p:sp>
        <p:nvSpPr>
          <p:cNvPr id="25" name="Text 23"/>
          <p:cNvSpPr txBox="1"/>
          <p:nvPr/>
        </p:nvSpPr>
        <p:spPr>
          <a:xfrm>
            <a:off x="4663440" y="4206240"/>
            <a:ext cx="1920240" cy="914400"/>
          </a:xfrm>
          <a:prstGeom prst="rect">
            <a:avLst/>
          </a:prstGeom>
          <a:noFill/>
          <a:ln/>
        </p:spPr>
        <p:txBody>
          <a:bodyPr wrap="square" lIns="0" tIns="0" rIns="0" bIns="0" rtlCol="0" anchor="t"/>
          <a:lstStyle/>
          <a:p>
            <a:pPr indent="0" marL="0">
              <a:buNone/>
            </a:pPr>
            <a:r>
              <a:rPr lang="en-US" sz="1600" b="1" dirty="0">
                <a:solidFill>
                  <a:schemeClr val="tx1"/>
                </a:solidFill>
              </a:rPr>
              <a:t>One typed repair</a:t>
            </a:r>
            <a:endParaRPr lang="en-US" sz="1400" dirty="0"/>
          </a:p>
          <a:p>
            <a:pPr indent="0" marL="0">
              <a:buNone/>
            </a:pPr>
            <a:r>
              <a:rPr lang="en-US" sz="1400" dirty="0">
                <a:solidFill>
                  <a:schemeClr val="tx1"/>
                </a:solidFill>
              </a:rPr>
              <a:t>A single-field change to the EnvSpec</a:t>
            </a:r>
            <a:endParaRPr lang="en-US" sz="1400" dirty="0"/>
          </a:p>
        </p:txBody>
      </p:sp>
      <p:sp>
        <p:nvSpPr>
          <p:cNvPr id="26" name="Shape 24"/>
          <p:cNvSpPr/>
          <p:nvPr/>
        </p:nvSpPr>
        <p:spPr>
          <a:xfrm>
            <a:off x="8366760" y="3200400"/>
            <a:ext cx="0" cy="914400"/>
          </a:xfrm>
          <a:prstGeom prst="line">
            <a:avLst/>
          </a:prstGeom>
          <a:noFill/>
          <a:ln w="25400">
            <a:solidFill>
              <a:schemeClr val="accent3"/>
            </a:solidFill>
            <a:prstDash val="solid"/>
            <a:tailEnd type="triangle"/>
          </a:ln>
        </p:spPr>
      </p:sp>
      <p:sp>
        <p:nvSpPr>
          <p:cNvPr id="27" name="Text 25"/>
          <p:cNvSpPr txBox="1"/>
          <p:nvPr/>
        </p:nvSpPr>
        <p:spPr>
          <a:xfrm>
            <a:off x="8485632" y="3474720"/>
            <a:ext cx="731520" cy="274320"/>
          </a:xfrm>
          <a:prstGeom prst="rect">
            <a:avLst/>
          </a:prstGeom>
          <a:noFill/>
          <a:ln/>
        </p:spPr>
        <p:txBody>
          <a:bodyPr wrap="square" lIns="0" tIns="0" rIns="0" bIns="0" rtlCol="0" anchor="t"/>
          <a:lstStyle/>
          <a:p>
            <a:pPr indent="0" marL="0">
              <a:buNone/>
            </a:pPr>
            <a:r>
              <a:rPr lang="en-US" sz="1400" b="1" dirty="0">
                <a:solidFill>
                  <a:schemeClr val="accent3"/>
                </a:solidFill>
              </a:rPr>
              <a:t>fail</a:t>
            </a:r>
            <a:endParaRPr lang="en-US" sz="1400" dirty="0"/>
          </a:p>
        </p:txBody>
      </p:sp>
      <p:sp>
        <p:nvSpPr>
          <p:cNvPr id="28" name="Shape 26"/>
          <p:cNvSpPr/>
          <p:nvPr/>
        </p:nvSpPr>
        <p:spPr>
          <a:xfrm flipH="1">
            <a:off x="6720840" y="4663440"/>
            <a:ext cx="594360" cy="0"/>
          </a:xfrm>
          <a:prstGeom prst="line">
            <a:avLst/>
          </a:prstGeom>
          <a:noFill/>
          <a:ln w="25400">
            <a:solidFill>
              <a:schemeClr val="accent3"/>
            </a:solidFill>
            <a:prstDash val="solid"/>
            <a:tailEnd type="triangle"/>
          </a:ln>
        </p:spPr>
      </p:sp>
      <p:sp>
        <p:nvSpPr>
          <p:cNvPr id="29" name="Shape 27"/>
          <p:cNvSpPr/>
          <p:nvPr/>
        </p:nvSpPr>
        <p:spPr>
          <a:xfrm flipV="1">
            <a:off x="5623560" y="3200400"/>
            <a:ext cx="0" cy="914400"/>
          </a:xfrm>
          <a:prstGeom prst="line">
            <a:avLst/>
          </a:prstGeom>
          <a:noFill/>
          <a:ln w="25400">
            <a:solidFill>
              <a:schemeClr val="accent3"/>
            </a:solidFill>
            <a:prstDash val="solid"/>
            <a:tailEnd type="triangle"/>
          </a:ln>
        </p:spPr>
      </p:sp>
      <p:sp>
        <p:nvSpPr>
          <p:cNvPr id="30" name="Text 28"/>
          <p:cNvSpPr txBox="1"/>
          <p:nvPr/>
        </p:nvSpPr>
        <p:spPr>
          <a:xfrm>
            <a:off x="9281160" y="2011680"/>
            <a:ext cx="457200" cy="274320"/>
          </a:xfrm>
          <a:prstGeom prst="rect">
            <a:avLst/>
          </a:prstGeom>
          <a:noFill/>
          <a:ln/>
        </p:spPr>
        <p:txBody>
          <a:bodyPr wrap="square" lIns="0" tIns="0" rIns="0" bIns="0" rtlCol="0" anchor="t"/>
          <a:lstStyle/>
          <a:p>
            <a:pPr algn="ctr" indent="0" marL="0">
              <a:buNone/>
            </a:pPr>
            <a:r>
              <a:rPr lang="en-US" sz="1200" b="1" dirty="0">
                <a:solidFill>
                  <a:schemeClr val="accent6"/>
                </a:solidFill>
              </a:rPr>
              <a:t>pass</a:t>
            </a:r>
            <a:endParaRPr lang="en-US" sz="1200" dirty="0"/>
          </a:p>
        </p:txBody>
      </p:sp>
      <p:sp>
        <p:nvSpPr>
          <p:cNvPr id="31" name="Text 29"/>
          <p:cNvSpPr txBox="1"/>
          <p:nvPr/>
        </p:nvSpPr>
        <p:spPr>
          <a:xfrm>
            <a:off x="594360" y="5577840"/>
            <a:ext cx="10972800" cy="548640"/>
          </a:xfrm>
          <a:prstGeom prst="rect">
            <a:avLst/>
          </a:prstGeom>
          <a:noFill/>
          <a:ln/>
        </p:spPr>
        <p:txBody>
          <a:bodyPr wrap="square" lIns="0" tIns="0" rIns="0" bIns="0" rtlCol="0" anchor="t"/>
          <a:lstStyle/>
          <a:p>
            <a:pPr indent="0" marL="0">
              <a:buNone/>
            </a:pPr>
            <a:r>
              <a:rPr lang="en-US" sz="1400" b="1" dirty="0">
                <a:solidFill>
                  <a:schemeClr val="tx1"/>
                </a:solidFill>
              </a:rPr>
              <a:t>Budget: </a:t>
            </a:r>
            <a:pPr indent="0" marL="0">
              <a:buNone/>
            </a:pPr>
            <a:r>
              <a:rPr lang="en-US" sz="1400" dirty="0">
                <a:solidFill>
                  <a:schemeClr val="tx1"/>
                </a:solidFill>
              </a:rPr>
              <a:t>5 charged attempts, one action each. Substrate failures (DNS, registry, pull limits) are retried and not charged.</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808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rgbClr val="0F2A33"/>
                </a:solidFill>
              </a:rPr>
              <a:t>The model judges, code executes</a:t>
            </a:r>
            <a:endParaRPr lang="en-US" sz="3400" dirty="0"/>
          </a:p>
        </p:txBody>
      </p:sp>
      <p:sp>
        <p:nvSpPr>
          <p:cNvPr id="3" name="model-card"/>
          <p:cNvSpPr/>
          <p:nvPr/>
        </p:nvSpPr>
        <p:spPr>
          <a:xfrm>
            <a:off x="548640" y="1463040"/>
            <a:ext cx="4937760" cy="2011680"/>
          </a:xfrm>
          <a:prstGeom prst="roundRect">
            <a:avLst>
              <a:gd name="adj" fmla="val 3636"/>
            </a:avLst>
          </a:prstGeom>
          <a:solidFill>
            <a:schemeClr val="bg2"/>
          </a:solidFill>
          <a:ln/>
          <a:effectLst>
            <a:outerShdw sx="100000" sy="100000" kx="0" ky="0" algn="bl" rotWithShape="0" blurRad="76200" dist="25400" dir="5400000">
              <a:srgbClr val="0F2A33">
                <a:alpha val="12000"/>
              </a:srgbClr>
            </a:outerShdw>
          </a:effectLst>
        </p:spPr>
      </p:sp>
      <p:sp>
        <p:nvSpPr>
          <p:cNvPr id="4" name="Text 2"/>
          <p:cNvSpPr txBox="1"/>
          <p:nvPr/>
        </p:nvSpPr>
        <p:spPr>
          <a:xfrm>
            <a:off x="822960" y="1600200"/>
            <a:ext cx="4389120" cy="365760"/>
          </a:xfrm>
          <a:prstGeom prst="rect">
            <a:avLst/>
          </a:prstGeom>
          <a:noFill/>
          <a:ln/>
        </p:spPr>
        <p:txBody>
          <a:bodyPr wrap="square" lIns="0" tIns="0" rIns="0" bIns="0" rtlCol="0" anchor="t"/>
          <a:lstStyle/>
          <a:p>
            <a:pPr indent="0" marL="0">
              <a:buNone/>
            </a:pPr>
            <a:r>
              <a:rPr lang="en-US" sz="1800" b="1" dirty="0">
                <a:solidFill>
                  <a:schemeClr val="accent1"/>
                </a:solidFill>
              </a:rPr>
              <a:t>The agent does two things</a:t>
            </a:r>
            <a:endParaRPr lang="en-US" sz="1800" dirty="0"/>
          </a:p>
        </p:txBody>
      </p:sp>
      <p:sp>
        <p:nvSpPr>
          <p:cNvPr id="5" name="Text 3"/>
          <p:cNvSpPr txBox="1"/>
          <p:nvPr/>
        </p:nvSpPr>
        <p:spPr>
          <a:xfrm>
            <a:off x="822960" y="2103120"/>
            <a:ext cx="4389120" cy="12801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Synthesize the first EnvSpec from evidence</a:t>
            </a:r>
            <a:endParaRPr lang="en-US" sz="1500" dirty="0"/>
          </a:p>
          <a:p>
            <a:pPr marL="342900" indent="-342900">
              <a:spcAft>
                <a:spcPts val="600"/>
              </a:spcAft>
              <a:buSzPct val="100000"/>
              <a:buChar char="•"/>
            </a:pPr>
            <a:r>
              <a:rPr lang="en-US" sz="1500" dirty="0">
                <a:solidFill>
                  <a:schemeClr val="tx1"/>
                </a:solidFill>
              </a:rPr>
              <a:t>Pick a repair when the rule table has nothing to say</a:t>
            </a:r>
            <a:endParaRPr lang="en-US" sz="1500" dirty="0"/>
          </a:p>
        </p:txBody>
      </p:sp>
      <p:sp>
        <p:nvSpPr>
          <p:cNvPr id="6" name="code-card"/>
          <p:cNvSpPr/>
          <p:nvPr/>
        </p:nvSpPr>
        <p:spPr>
          <a:xfrm>
            <a:off x="548640" y="3657600"/>
            <a:ext cx="4937760" cy="2377440"/>
          </a:xfrm>
          <a:prstGeom prst="roundRect">
            <a:avLst>
              <a:gd name="adj" fmla="val 3077"/>
            </a:avLst>
          </a:prstGeom>
          <a:solidFill>
            <a:schemeClr val="bg2"/>
          </a:solidFill>
          <a:ln/>
          <a:effectLst>
            <a:outerShdw sx="100000" sy="100000" kx="0" ky="0" algn="bl" rotWithShape="0" blurRad="76200" dist="25400" dir="5400000">
              <a:srgbClr val="0F2A33">
                <a:alpha val="12000"/>
              </a:srgbClr>
            </a:outerShdw>
          </a:effectLst>
        </p:spPr>
      </p:sp>
      <p:sp>
        <p:nvSpPr>
          <p:cNvPr id="7" name="Text 5"/>
          <p:cNvSpPr txBox="1"/>
          <p:nvPr/>
        </p:nvSpPr>
        <p:spPr>
          <a:xfrm>
            <a:off x="822960" y="3794760"/>
            <a:ext cx="4389120" cy="365760"/>
          </a:xfrm>
          <a:prstGeom prst="rect">
            <a:avLst/>
          </a:prstGeom>
          <a:noFill/>
          <a:ln/>
        </p:spPr>
        <p:txBody>
          <a:bodyPr wrap="square" lIns="0" tIns="0" rIns="0" bIns="0" rtlCol="0" anchor="t"/>
          <a:lstStyle/>
          <a:p>
            <a:pPr indent="0" marL="0">
              <a:buNone/>
            </a:pPr>
            <a:r>
              <a:rPr lang="en-US" sz="1800" b="1" dirty="0">
                <a:solidFill>
                  <a:schemeClr val="accent1"/>
                </a:solidFill>
              </a:rPr>
              <a:t>Deterministic code does the rest</a:t>
            </a:r>
            <a:endParaRPr lang="en-US" sz="1800" dirty="0"/>
          </a:p>
        </p:txBody>
      </p:sp>
      <p:sp>
        <p:nvSpPr>
          <p:cNvPr id="8" name="Text 6"/>
          <p:cNvSpPr txBox="1"/>
          <p:nvPr/>
        </p:nvSpPr>
        <p:spPr>
          <a:xfrm>
            <a:off x="822960" y="4297680"/>
            <a:ext cx="4389120" cy="16459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Scan, render, build, ladder, classify</a:t>
            </a:r>
            <a:endParaRPr lang="en-US" sz="1500" dirty="0"/>
          </a:p>
          <a:p>
            <a:pPr marL="342900" indent="-342900">
              <a:spcAft>
                <a:spcPts val="600"/>
              </a:spcAft>
              <a:buSzPct val="100000"/>
              <a:buChar char="•"/>
            </a:pPr>
            <a:r>
              <a:rPr lang="en-US" sz="1500" dirty="0">
                <a:solidFill>
                  <a:schemeClr val="tx1"/>
                </a:solidFill>
              </a:rPr>
              <a:t>Budgets, records, teardown</a:t>
            </a:r>
            <a:endParaRPr lang="en-US" sz="1500" dirty="0"/>
          </a:p>
          <a:p>
            <a:pPr marL="342900" indent="-342900">
              <a:spcAft>
                <a:spcPts val="600"/>
              </a:spcAft>
              <a:buSzPct val="100000"/>
              <a:buChar char="•"/>
            </a:pPr>
            <a:r>
              <a:rPr lang="en-US" sz="1500" dirty="0">
                <a:solidFill>
                  <a:schemeClr val="tx1"/>
                </a:solidFill>
              </a:rPr>
              <a:t>One CLI: driver.py (init, spec, attempt, patch, verdict)</a:t>
            </a:r>
            <a:endParaRPr lang="en-US" sz="1500" dirty="0"/>
          </a:p>
          <a:p>
            <a:pPr marL="342900" indent="-342900">
              <a:spcAft>
                <a:spcPts val="600"/>
              </a:spcAft>
              <a:buSzPct val="100000"/>
              <a:buChar char="•"/>
            </a:pPr>
            <a:r>
              <a:rPr lang="en-US" sz="1500" dirty="0">
                <a:solidFill>
                  <a:schemeClr val="tx1"/>
                </a:solidFill>
              </a:rPr>
              <a:t>No LLM client in src/</a:t>
            </a:r>
            <a:endParaRPr lang="en-US" sz="1500" dirty="0"/>
          </a:p>
        </p:txBody>
      </p:sp>
      <p:sp>
        <p:nvSpPr>
          <p:cNvPr id="9" name="cluster-frame"/>
          <p:cNvSpPr/>
          <p:nvPr/>
        </p:nvSpPr>
        <p:spPr>
          <a:xfrm>
            <a:off x="5943600" y="1463040"/>
            <a:ext cx="5669280" cy="4572000"/>
          </a:xfrm>
          <a:prstGeom prst="roundRect">
            <a:avLst>
              <a:gd name="adj" fmla="val 1600"/>
            </a:avLst>
          </a:prstGeom>
          <a:solidFill>
            <a:srgbClr val="FFFFFF"/>
          </a:solidFill>
          <a:ln w="12700">
            <a:solidFill>
              <a:srgbClr val="6B8086"/>
            </a:solidFill>
            <a:prstDash val="dash"/>
          </a:ln>
        </p:spPr>
      </p:sp>
      <p:sp>
        <p:nvSpPr>
          <p:cNvPr id="10" name="Text 8"/>
          <p:cNvSpPr txBox="1"/>
          <p:nvPr/>
        </p:nvSpPr>
        <p:spPr>
          <a:xfrm>
            <a:off x="6126480" y="1554480"/>
            <a:ext cx="3200400" cy="274320"/>
          </a:xfrm>
          <a:prstGeom prst="rect">
            <a:avLst/>
          </a:prstGeom>
          <a:noFill/>
          <a:ln/>
        </p:spPr>
        <p:txBody>
          <a:bodyPr wrap="square" lIns="0" tIns="0" rIns="0" bIns="0" rtlCol="0" anchor="t"/>
          <a:lstStyle/>
          <a:p>
            <a:pPr indent="0" marL="0">
              <a:buNone/>
            </a:pPr>
            <a:r>
              <a:rPr lang="en-US" sz="1200" b="1" dirty="0">
                <a:solidFill>
                  <a:schemeClr val="accent5"/>
                </a:solidFill>
              </a:rPr>
              <a:t>Kubernetes namespace</a:t>
            </a:r>
            <a:endParaRPr lang="en-US" sz="1200" dirty="0"/>
          </a:p>
        </p:txBody>
      </p:sp>
      <p:sp>
        <p:nvSpPr>
          <p:cNvPr id="11" name="agent-pod"/>
          <p:cNvSpPr/>
          <p:nvPr/>
        </p:nvSpPr>
        <p:spPr>
          <a:xfrm>
            <a:off x="7315200" y="1920240"/>
            <a:ext cx="2926080" cy="822960"/>
          </a:xfrm>
          <a:prstGeom prst="roundRect">
            <a:avLst>
              <a:gd name="adj" fmla="val 8889"/>
            </a:avLst>
          </a:prstGeom>
          <a:solidFill>
            <a:schemeClr val="accent1"/>
          </a:solidFill>
          <a:ln/>
        </p:spPr>
      </p:sp>
      <p:sp>
        <p:nvSpPr>
          <p:cNvPr id="12" name="Text 10"/>
          <p:cNvSpPr txBox="1"/>
          <p:nvPr/>
        </p:nvSpPr>
        <p:spPr>
          <a:xfrm>
            <a:off x="7315200" y="1920240"/>
            <a:ext cx="2926080" cy="822960"/>
          </a:xfrm>
          <a:prstGeom prst="rect">
            <a:avLst/>
          </a:prstGeom>
          <a:noFill/>
          <a:ln/>
        </p:spPr>
        <p:txBody>
          <a:bodyPr wrap="square" lIns="0" tIns="0" rIns="0" bIns="0" rtlCol="0" anchor="ctr"/>
          <a:lstStyle/>
          <a:p>
            <a:pPr algn="ctr" indent="0" marL="0">
              <a:buNone/>
            </a:pPr>
            <a:r>
              <a:rPr lang="en-US" sz="1600" b="1" dirty="0">
                <a:solidFill>
                  <a:schemeClr val="bg1"/>
                </a:solidFill>
              </a:rPr>
              <a:t>Agent pod (Job)</a:t>
            </a:r>
            <a:endParaRPr lang="en-US" sz="1600" dirty="0"/>
          </a:p>
          <a:p>
            <a:pPr algn="ctr" indent="0" marL="0">
              <a:buNone/>
            </a:pPr>
            <a:r>
              <a:rPr lang="en-US" sz="1300" dirty="0">
                <a:solidFill>
                  <a:schemeClr val="bg1"/>
                </a:solidFill>
              </a:rPr>
              <a:t>LLM + driver.py</a:t>
            </a:r>
            <a:endParaRPr lang="en-US" sz="1600" dirty="0"/>
          </a:p>
        </p:txBody>
      </p:sp>
      <p:sp>
        <p:nvSpPr>
          <p:cNvPr id="13" name="kaniko-pod"/>
          <p:cNvSpPr/>
          <p:nvPr/>
        </p:nvSpPr>
        <p:spPr>
          <a:xfrm>
            <a:off x="6217920" y="3383280"/>
            <a:ext cx="2468880" cy="822960"/>
          </a:xfrm>
          <a:prstGeom prst="roundRect">
            <a:avLst>
              <a:gd name="adj" fmla="val 8889"/>
            </a:avLst>
          </a:prstGeom>
          <a:solidFill>
            <a:schemeClr val="accent4"/>
          </a:solidFill>
          <a:ln/>
        </p:spPr>
      </p:sp>
      <p:sp>
        <p:nvSpPr>
          <p:cNvPr id="14" name="Text 12"/>
          <p:cNvSpPr txBox="1"/>
          <p:nvPr/>
        </p:nvSpPr>
        <p:spPr>
          <a:xfrm>
            <a:off x="6217920" y="3383280"/>
            <a:ext cx="2468880" cy="822960"/>
          </a:xfrm>
          <a:prstGeom prst="rect">
            <a:avLst/>
          </a:prstGeom>
          <a:noFill/>
          <a:ln/>
        </p:spPr>
        <p:txBody>
          <a:bodyPr wrap="square" lIns="0" tIns="0" rIns="0" bIns="0" rtlCol="0" anchor="ctr"/>
          <a:lstStyle/>
          <a:p>
            <a:pPr algn="ctr" indent="0" marL="0">
              <a:buNone/>
            </a:pPr>
            <a:r>
              <a:rPr lang="en-US" sz="1500" b="1" dirty="0">
                <a:solidFill>
                  <a:schemeClr val="bg1"/>
                </a:solidFill>
              </a:rPr>
              <a:t>Kaniko build pod</a:t>
            </a:r>
            <a:endParaRPr lang="en-US" sz="1500" dirty="0"/>
          </a:p>
        </p:txBody>
      </p:sp>
      <p:sp>
        <p:nvSpPr>
          <p:cNvPr id="15" name="verify-pod"/>
          <p:cNvSpPr/>
          <p:nvPr/>
        </p:nvSpPr>
        <p:spPr>
          <a:xfrm>
            <a:off x="8869680" y="3383280"/>
            <a:ext cx="2468880" cy="822960"/>
          </a:xfrm>
          <a:prstGeom prst="roundRect">
            <a:avLst>
              <a:gd name="adj" fmla="val 8889"/>
            </a:avLst>
          </a:prstGeom>
          <a:solidFill>
            <a:schemeClr val="accent4"/>
          </a:solidFill>
          <a:ln/>
        </p:spPr>
      </p:sp>
      <p:sp>
        <p:nvSpPr>
          <p:cNvPr id="16" name="Text 14"/>
          <p:cNvSpPr txBox="1"/>
          <p:nvPr/>
        </p:nvSpPr>
        <p:spPr>
          <a:xfrm>
            <a:off x="8869680" y="3383280"/>
            <a:ext cx="2468880" cy="822960"/>
          </a:xfrm>
          <a:prstGeom prst="rect">
            <a:avLst/>
          </a:prstGeom>
          <a:noFill/>
          <a:ln/>
        </p:spPr>
        <p:txBody>
          <a:bodyPr wrap="square" lIns="0" tIns="0" rIns="0" bIns="0" rtlCol="0" anchor="ctr"/>
          <a:lstStyle/>
          <a:p>
            <a:pPr algn="ctr" indent="0" marL="0">
              <a:buNone/>
            </a:pPr>
            <a:r>
              <a:rPr lang="en-US" sz="1500" b="1" dirty="0">
                <a:solidFill>
                  <a:schemeClr val="bg1"/>
                </a:solidFill>
              </a:rPr>
              <a:t>Verification pod</a:t>
            </a:r>
            <a:endParaRPr lang="en-US" sz="1500" dirty="0"/>
          </a:p>
          <a:p>
            <a:pPr algn="ctr" indent="0" marL="0">
              <a:buNone/>
            </a:pPr>
            <a:r>
              <a:rPr lang="en-US" sz="1300" dirty="0">
                <a:solidFill>
                  <a:schemeClr val="bg1"/>
                </a:solidFill>
              </a:rPr>
              <a:t>one per rung</a:t>
            </a:r>
            <a:endParaRPr lang="en-US" sz="1500" dirty="0"/>
          </a:p>
        </p:txBody>
      </p:sp>
      <p:sp>
        <p:nvSpPr>
          <p:cNvPr id="17" name="Shape 15"/>
          <p:cNvSpPr/>
          <p:nvPr/>
        </p:nvSpPr>
        <p:spPr>
          <a:xfrm flipH="1">
            <a:off x="7452360" y="2743200"/>
            <a:ext cx="411480" cy="640080"/>
          </a:xfrm>
          <a:prstGeom prst="line">
            <a:avLst/>
          </a:prstGeom>
          <a:noFill/>
          <a:ln w="25400">
            <a:solidFill>
              <a:schemeClr val="accent5"/>
            </a:solidFill>
            <a:prstDash val="solid"/>
            <a:tailEnd type="triangle"/>
          </a:ln>
        </p:spPr>
      </p:sp>
      <p:sp>
        <p:nvSpPr>
          <p:cNvPr id="18" name="Shape 16"/>
          <p:cNvSpPr/>
          <p:nvPr/>
        </p:nvSpPr>
        <p:spPr>
          <a:xfrm>
            <a:off x="9692640" y="2743200"/>
            <a:ext cx="411480" cy="640080"/>
          </a:xfrm>
          <a:prstGeom prst="line">
            <a:avLst/>
          </a:prstGeom>
          <a:noFill/>
          <a:ln w="25400">
            <a:solidFill>
              <a:schemeClr val="accent5"/>
            </a:solidFill>
            <a:prstDash val="solid"/>
            <a:tailEnd type="triangle"/>
          </a:ln>
        </p:spPr>
      </p:sp>
      <p:sp>
        <p:nvSpPr>
          <p:cNvPr id="19" name="Text 17"/>
          <p:cNvSpPr txBox="1"/>
          <p:nvPr/>
        </p:nvSpPr>
        <p:spPr>
          <a:xfrm>
            <a:off x="7863840" y="2926080"/>
            <a:ext cx="1920240" cy="274320"/>
          </a:xfrm>
          <a:prstGeom prst="rect">
            <a:avLst/>
          </a:prstGeom>
          <a:noFill/>
          <a:ln/>
        </p:spPr>
        <p:txBody>
          <a:bodyPr wrap="square" lIns="0" tIns="0" rIns="0" bIns="0" rtlCol="0" anchor="t"/>
          <a:lstStyle/>
          <a:p>
            <a:pPr algn="ctr" indent="0" marL="0">
              <a:buNone/>
            </a:pPr>
            <a:r>
              <a:rPr lang="en-US" sz="1200" dirty="0">
                <a:solidFill>
                  <a:schemeClr val="accent5"/>
                </a:solidFill>
              </a:rPr>
              <a:t>create / get / log / delete</a:t>
            </a:r>
            <a:endParaRPr lang="en-US" sz="1200" dirty="0"/>
          </a:p>
        </p:txBody>
      </p:sp>
      <p:sp>
        <p:nvSpPr>
          <p:cNvPr id="20" name="pvc-0"/>
          <p:cNvSpPr/>
          <p:nvPr/>
        </p:nvSpPr>
        <p:spPr>
          <a:xfrm>
            <a:off x="6217920" y="4754880"/>
            <a:ext cx="1645920" cy="914400"/>
          </a:xfrm>
          <a:prstGeom prst="roundRect">
            <a:avLst>
              <a:gd name="adj" fmla="val 8000"/>
            </a:avLst>
          </a:prstGeom>
          <a:solidFill>
            <a:schemeClr val="bg2"/>
          </a:solidFill>
          <a:ln/>
          <a:effectLst>
            <a:outerShdw sx="100000" sy="100000" kx="0" ky="0" algn="bl" rotWithShape="0" blurRad="76200" dist="25400" dir="5400000">
              <a:srgbClr val="0F2A33">
                <a:alpha val="12000"/>
              </a:srgbClr>
            </a:outerShdw>
          </a:effectLst>
        </p:spPr>
      </p:sp>
      <p:sp>
        <p:nvSpPr>
          <p:cNvPr id="21" name="Text 19"/>
          <p:cNvSpPr txBox="1"/>
          <p:nvPr/>
        </p:nvSpPr>
        <p:spPr>
          <a:xfrm>
            <a:off x="6309360" y="4800600"/>
            <a:ext cx="1463040" cy="822960"/>
          </a:xfrm>
          <a:prstGeom prst="rect">
            <a:avLst/>
          </a:prstGeom>
          <a:noFill/>
          <a:ln/>
        </p:spPr>
        <p:txBody>
          <a:bodyPr wrap="square" lIns="0" tIns="0" rIns="0" bIns="0" rtlCol="0" anchor="ctr"/>
          <a:lstStyle/>
          <a:p>
            <a:pPr algn="ctr" indent="0" marL="0">
              <a:buNone/>
            </a:pPr>
            <a:r>
              <a:rPr lang="en-US" sz="1300" b="1" dirty="0">
                <a:solidFill>
                  <a:schemeClr val="tx1"/>
                </a:solidFill>
              </a:rPr>
              <a:t>envbuild-work PVC</a:t>
            </a:r>
            <a:endParaRPr lang="en-US" sz="1400" dirty="0"/>
          </a:p>
          <a:p>
            <a:pPr algn="ctr" indent="0" marL="0">
              <a:buNone/>
            </a:pPr>
            <a:r>
              <a:rPr lang="en-US" sz="1200" dirty="0">
                <a:solidFill>
                  <a:schemeClr val="accent5"/>
                </a:solidFill>
              </a:rPr>
              <a:t>scratch, RW</a:t>
            </a:r>
            <a:endParaRPr lang="en-US" sz="1400" dirty="0"/>
          </a:p>
        </p:txBody>
      </p:sp>
      <p:sp>
        <p:nvSpPr>
          <p:cNvPr id="22" name="pvc-1"/>
          <p:cNvSpPr/>
          <p:nvPr/>
        </p:nvSpPr>
        <p:spPr>
          <a:xfrm>
            <a:off x="8001000" y="4754880"/>
            <a:ext cx="1645920" cy="914400"/>
          </a:xfrm>
          <a:prstGeom prst="roundRect">
            <a:avLst>
              <a:gd name="adj" fmla="val 8000"/>
            </a:avLst>
          </a:prstGeom>
          <a:solidFill>
            <a:schemeClr val="bg2"/>
          </a:solidFill>
          <a:ln/>
          <a:effectLst>
            <a:outerShdw sx="100000" sy="100000" kx="0" ky="0" algn="bl" rotWithShape="0" blurRad="76200" dist="25400" dir="5400000">
              <a:srgbClr val="0F2A33">
                <a:alpha val="12000"/>
              </a:srgbClr>
            </a:outerShdw>
          </a:effectLst>
        </p:spPr>
      </p:sp>
      <p:sp>
        <p:nvSpPr>
          <p:cNvPr id="23" name="Text 21"/>
          <p:cNvSpPr txBox="1"/>
          <p:nvPr/>
        </p:nvSpPr>
        <p:spPr>
          <a:xfrm>
            <a:off x="8092440" y="4800600"/>
            <a:ext cx="1463040" cy="822960"/>
          </a:xfrm>
          <a:prstGeom prst="rect">
            <a:avLst/>
          </a:prstGeom>
          <a:noFill/>
          <a:ln/>
        </p:spPr>
        <p:txBody>
          <a:bodyPr wrap="square" lIns="0" tIns="0" rIns="0" bIns="0" rtlCol="0" anchor="ctr"/>
          <a:lstStyle/>
          <a:p>
            <a:pPr algn="ctr" indent="0" marL="0">
              <a:buNone/>
            </a:pPr>
            <a:r>
              <a:rPr lang="en-US" sz="1300" b="1" dirty="0">
                <a:solidFill>
                  <a:schemeClr val="tx1"/>
                </a:solidFill>
              </a:rPr>
              <a:t>models PVC</a:t>
            </a:r>
            <a:endParaRPr lang="en-US" sz="1400" dirty="0"/>
          </a:p>
          <a:p>
            <a:pPr algn="ctr" indent="0" marL="0">
              <a:buNone/>
            </a:pPr>
            <a:r>
              <a:rPr lang="en-US" sz="1200" dirty="0">
                <a:solidFill>
                  <a:schemeClr val="accent5"/>
                </a:solidFill>
              </a:rPr>
              <a:t>read-only</a:t>
            </a:r>
            <a:endParaRPr lang="en-US" sz="1400" dirty="0"/>
          </a:p>
        </p:txBody>
      </p:sp>
      <p:sp>
        <p:nvSpPr>
          <p:cNvPr id="24" name="pvc-2"/>
          <p:cNvSpPr/>
          <p:nvPr/>
        </p:nvSpPr>
        <p:spPr>
          <a:xfrm>
            <a:off x="9784080" y="4754880"/>
            <a:ext cx="1645920" cy="914400"/>
          </a:xfrm>
          <a:prstGeom prst="roundRect">
            <a:avLst>
              <a:gd name="adj" fmla="val 8000"/>
            </a:avLst>
          </a:prstGeom>
          <a:solidFill>
            <a:schemeClr val="bg2"/>
          </a:solidFill>
          <a:ln/>
          <a:effectLst>
            <a:outerShdw sx="100000" sy="100000" kx="0" ky="0" algn="bl" rotWithShape="0" blurRad="76200" dist="25400" dir="5400000">
              <a:srgbClr val="0F2A33">
                <a:alpha val="12000"/>
              </a:srgbClr>
            </a:outerShdw>
          </a:effectLst>
        </p:spPr>
      </p:sp>
      <p:sp>
        <p:nvSpPr>
          <p:cNvPr id="25" name="Text 23"/>
          <p:cNvSpPr txBox="1"/>
          <p:nvPr/>
        </p:nvSpPr>
        <p:spPr>
          <a:xfrm>
            <a:off x="9875520" y="4800600"/>
            <a:ext cx="1463040" cy="822960"/>
          </a:xfrm>
          <a:prstGeom prst="rect">
            <a:avLst/>
          </a:prstGeom>
          <a:noFill/>
          <a:ln/>
        </p:spPr>
        <p:txBody>
          <a:bodyPr wrap="square" lIns="0" tIns="0" rIns="0" bIns="0" rtlCol="0" anchor="ctr"/>
          <a:lstStyle/>
          <a:p>
            <a:pPr algn="ctr" indent="0" marL="0">
              <a:buNone/>
            </a:pPr>
            <a:r>
              <a:rPr lang="en-US" sz="1300" b="1" dirty="0">
                <a:solidFill>
                  <a:schemeClr val="tx1"/>
                </a:solidFill>
              </a:rPr>
              <a:t>Registry</a:t>
            </a:r>
            <a:endParaRPr lang="en-US" sz="1400" dirty="0"/>
          </a:p>
          <a:p>
            <a:pPr algn="ctr" indent="0" marL="0">
              <a:buNone/>
            </a:pPr>
            <a:r>
              <a:rPr lang="en-US" sz="1200" dirty="0">
                <a:solidFill>
                  <a:schemeClr val="accent5"/>
                </a:solidFill>
              </a:rPr>
              <a:t>digest-addressed</a:t>
            </a:r>
            <a:endParaRPr lang="en-US" sz="1400" dirty="0"/>
          </a:p>
        </p:txBody>
      </p:sp>
      <p:sp>
        <p:nvSpPr>
          <p:cNvPr id="26" name="Text 24"/>
          <p:cNvSpPr txBox="1"/>
          <p:nvPr/>
        </p:nvSpPr>
        <p:spPr>
          <a:xfrm>
            <a:off x="6217920" y="5715000"/>
            <a:ext cx="5212080" cy="274320"/>
          </a:xfrm>
          <a:prstGeom prst="rect">
            <a:avLst/>
          </a:prstGeom>
          <a:noFill/>
          <a:ln/>
        </p:spPr>
        <p:txBody>
          <a:bodyPr wrap="square" lIns="0" tIns="0" rIns="0" bIns="0" rtlCol="0" anchor="t"/>
          <a:lstStyle/>
          <a:p>
            <a:pPr algn="ctr" indent="0" marL="0">
              <a:buNone/>
            </a:pPr>
            <a:r>
              <a:rPr lang="en-US" sz="1200" dirty="0">
                <a:solidFill>
                  <a:schemeClr val="accent5"/>
                </a:solidFill>
              </a:rPr>
              <a:t>Bytes move on mounted volumes. No kubectl, no docker daemon, no pods/exec.</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808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rgbClr val="0F2A33"/>
                </a:solidFill>
              </a:rPr>
              <a:t>Four rungs of proof</a:t>
            </a:r>
            <a:endParaRPr lang="en-US" sz="3400" dirty="0"/>
          </a:p>
        </p:txBody>
      </p:sp>
      <p:sp>
        <p:nvSpPr>
          <p:cNvPr id="3" name="rung-L0"/>
          <p:cNvSpPr/>
          <p:nvPr/>
        </p:nvSpPr>
        <p:spPr>
          <a:xfrm>
            <a:off x="548640" y="3566160"/>
            <a:ext cx="2651760" cy="2103120"/>
          </a:xfrm>
          <a:prstGeom prst="roundRect">
            <a:avLst>
              <a:gd name="adj" fmla="val 3478"/>
            </a:avLst>
          </a:prstGeom>
          <a:solidFill>
            <a:schemeClr val="accent5"/>
          </a:solidFill>
          <a:ln/>
          <a:effectLst>
            <a:outerShdw sx="100000" sy="100000" kx="0" ky="0" algn="bl" rotWithShape="0" blurRad="76200" dist="25400" dir="5400000">
              <a:srgbClr val="0F2A33">
                <a:alpha val="12000"/>
              </a:srgbClr>
            </a:outerShdw>
          </a:effectLst>
        </p:spPr>
      </p:sp>
      <p:sp>
        <p:nvSpPr>
          <p:cNvPr id="4" name="Text 2"/>
          <p:cNvSpPr txBox="1"/>
          <p:nvPr/>
        </p:nvSpPr>
        <p:spPr>
          <a:xfrm>
            <a:off x="777240" y="3703320"/>
            <a:ext cx="2194560" cy="640080"/>
          </a:xfrm>
          <a:prstGeom prst="rect">
            <a:avLst/>
          </a:prstGeom>
          <a:noFill/>
          <a:ln/>
        </p:spPr>
        <p:txBody>
          <a:bodyPr wrap="square" lIns="0" tIns="0" rIns="0" bIns="0" rtlCol="0" anchor="t"/>
          <a:lstStyle/>
          <a:p>
            <a:pPr indent="0" marL="0">
              <a:buNone/>
            </a:pPr>
            <a:r>
              <a:rPr lang="en-US" sz="3600" b="1" dirty="0">
                <a:solidFill>
                  <a:schemeClr val="bg1"/>
                </a:solidFill>
                <a:latin typeface="Cambria" pitchFamily="34" charset="0"/>
                <a:ea typeface="Cambria" pitchFamily="34" charset="-122"/>
                <a:cs typeface="Cambria" pitchFamily="34" charset="-120"/>
              </a:rPr>
              <a:t>L0</a:t>
            </a:r>
            <a:endParaRPr lang="en-US" sz="3600" dirty="0"/>
          </a:p>
        </p:txBody>
      </p:sp>
      <p:sp>
        <p:nvSpPr>
          <p:cNvPr id="5" name="Text 3"/>
          <p:cNvSpPr txBox="1"/>
          <p:nvPr/>
        </p:nvSpPr>
        <p:spPr>
          <a:xfrm>
            <a:off x="777240" y="4389120"/>
            <a:ext cx="2194560" cy="1097280"/>
          </a:xfrm>
          <a:prstGeom prst="rect">
            <a:avLst/>
          </a:prstGeom>
          <a:noFill/>
          <a:ln/>
        </p:spPr>
        <p:txBody>
          <a:bodyPr wrap="square" lIns="0" tIns="0" rIns="0" bIns="0" rtlCol="0" anchor="t"/>
          <a:lstStyle/>
          <a:p>
            <a:pPr indent="0" marL="0">
              <a:buNone/>
            </a:pPr>
            <a:r>
              <a:rPr lang="en-US" sz="1500" dirty="0">
                <a:solidFill>
                  <a:schemeClr val="bg1"/>
                </a:solidFill>
              </a:rPr>
              <a:t>Image builds and pushes</a:t>
            </a:r>
            <a:endParaRPr lang="en-US" sz="1500" dirty="0"/>
          </a:p>
        </p:txBody>
      </p:sp>
      <p:sp>
        <p:nvSpPr>
          <p:cNvPr id="6" name="Text 4"/>
          <p:cNvSpPr txBox="1"/>
          <p:nvPr/>
        </p:nvSpPr>
        <p:spPr>
          <a:xfrm>
            <a:off x="777240" y="4892040"/>
            <a:ext cx="2194560" cy="685800"/>
          </a:xfrm>
          <a:prstGeom prst="rect">
            <a:avLst/>
          </a:prstGeom>
          <a:noFill/>
          <a:ln/>
        </p:spPr>
        <p:txBody>
          <a:bodyPr wrap="square" lIns="0" tIns="0" rIns="0" bIns="0" rtlCol="0" anchor="b"/>
          <a:lstStyle/>
          <a:p>
            <a:pPr indent="0" marL="0">
              <a:buNone/>
            </a:pPr>
            <a:r>
              <a:rPr lang="en-US" sz="1200" b="1" dirty="0">
                <a:solidFill>
                  <a:schemeClr val="bg1"/>
                </a:solidFill>
              </a:rPr>
              <a:t>Failure means: </a:t>
            </a:r>
            <a:pPr indent="0" marL="0">
              <a:buNone/>
            </a:pPr>
            <a:r>
              <a:rPr lang="en-US" sz="1200" dirty="0">
                <a:solidFill>
                  <a:schemeClr val="bg1"/>
                </a:solidFill>
              </a:rPr>
              <a:t>Build problem</a:t>
            </a:r>
            <a:endParaRPr lang="en-US" sz="1200" dirty="0"/>
          </a:p>
        </p:txBody>
      </p:sp>
      <p:sp>
        <p:nvSpPr>
          <p:cNvPr id="7" name="rung-L1"/>
          <p:cNvSpPr/>
          <p:nvPr/>
        </p:nvSpPr>
        <p:spPr>
          <a:xfrm>
            <a:off x="3383280" y="2926080"/>
            <a:ext cx="2651760" cy="2743200"/>
          </a:xfrm>
          <a:prstGeom prst="roundRect">
            <a:avLst>
              <a:gd name="adj" fmla="val 2759"/>
            </a:avLst>
          </a:prstGeom>
          <a:solidFill>
            <a:schemeClr val="accent4"/>
          </a:solidFill>
          <a:ln/>
          <a:effectLst>
            <a:outerShdw sx="100000" sy="100000" kx="0" ky="0" algn="bl" rotWithShape="0" blurRad="76200" dist="25400" dir="5400000">
              <a:srgbClr val="0F2A33">
                <a:alpha val="12000"/>
              </a:srgbClr>
            </a:outerShdw>
          </a:effectLst>
        </p:spPr>
      </p:sp>
      <p:sp>
        <p:nvSpPr>
          <p:cNvPr id="8" name="Text 6"/>
          <p:cNvSpPr txBox="1"/>
          <p:nvPr/>
        </p:nvSpPr>
        <p:spPr>
          <a:xfrm>
            <a:off x="3611880" y="3063240"/>
            <a:ext cx="2194560" cy="640080"/>
          </a:xfrm>
          <a:prstGeom prst="rect">
            <a:avLst/>
          </a:prstGeom>
          <a:noFill/>
          <a:ln/>
        </p:spPr>
        <p:txBody>
          <a:bodyPr wrap="square" lIns="0" tIns="0" rIns="0" bIns="0" rtlCol="0" anchor="t"/>
          <a:lstStyle/>
          <a:p>
            <a:pPr indent="0" marL="0">
              <a:buNone/>
            </a:pPr>
            <a:r>
              <a:rPr lang="en-US" sz="3600" b="1" dirty="0">
                <a:solidFill>
                  <a:schemeClr val="bg1"/>
                </a:solidFill>
                <a:latin typeface="Cambria" pitchFamily="34" charset="0"/>
                <a:ea typeface="Cambria" pitchFamily="34" charset="-122"/>
                <a:cs typeface="Cambria" pitchFamily="34" charset="-120"/>
              </a:rPr>
              <a:t>L1</a:t>
            </a:r>
            <a:endParaRPr lang="en-US" sz="3600" dirty="0"/>
          </a:p>
        </p:txBody>
      </p:sp>
      <p:sp>
        <p:nvSpPr>
          <p:cNvPr id="9" name="Text 7"/>
          <p:cNvSpPr txBox="1"/>
          <p:nvPr/>
        </p:nvSpPr>
        <p:spPr>
          <a:xfrm>
            <a:off x="3611880" y="3749040"/>
            <a:ext cx="2194560" cy="1097280"/>
          </a:xfrm>
          <a:prstGeom prst="rect">
            <a:avLst/>
          </a:prstGeom>
          <a:noFill/>
          <a:ln/>
        </p:spPr>
        <p:txBody>
          <a:bodyPr wrap="square" lIns="0" tIns="0" rIns="0" bIns="0" rtlCol="0" anchor="t"/>
          <a:lstStyle/>
          <a:p>
            <a:pPr indent="0" marL="0">
              <a:buNone/>
            </a:pPr>
            <a:r>
              <a:rPr lang="en-US" sz="1500" dirty="0">
                <a:solidFill>
                  <a:schemeClr val="bg1"/>
                </a:solidFill>
              </a:rPr>
              <a:t>Declared dependencies import, with no code mounted</a:t>
            </a:r>
            <a:endParaRPr lang="en-US" sz="1500" dirty="0"/>
          </a:p>
        </p:txBody>
      </p:sp>
      <p:sp>
        <p:nvSpPr>
          <p:cNvPr id="10" name="Text 8"/>
          <p:cNvSpPr txBox="1"/>
          <p:nvPr/>
        </p:nvSpPr>
        <p:spPr>
          <a:xfrm>
            <a:off x="3611880" y="4892040"/>
            <a:ext cx="2194560" cy="685800"/>
          </a:xfrm>
          <a:prstGeom prst="rect">
            <a:avLst/>
          </a:prstGeom>
          <a:noFill/>
          <a:ln/>
        </p:spPr>
        <p:txBody>
          <a:bodyPr wrap="square" lIns="0" tIns="0" rIns="0" bIns="0" rtlCol="0" anchor="b"/>
          <a:lstStyle/>
          <a:p>
            <a:pPr indent="0" marL="0">
              <a:buNone/>
            </a:pPr>
            <a:r>
              <a:rPr lang="en-US" sz="1200" b="1" dirty="0">
                <a:solidFill>
                  <a:schemeClr val="bg1"/>
                </a:solidFill>
              </a:rPr>
              <a:t>Failure means: </a:t>
            </a:r>
            <a:pPr indent="0" marL="0">
              <a:buNone/>
            </a:pPr>
            <a:r>
              <a:rPr lang="en-US" sz="1200" dirty="0">
                <a:solidFill>
                  <a:schemeClr val="bg1"/>
                </a:solidFill>
              </a:rPr>
              <a:t>Image problem, unambiguously ours</a:t>
            </a:r>
            <a:endParaRPr lang="en-US" sz="1200" dirty="0"/>
          </a:p>
        </p:txBody>
      </p:sp>
      <p:sp>
        <p:nvSpPr>
          <p:cNvPr id="11" name="rung-L2"/>
          <p:cNvSpPr/>
          <p:nvPr/>
        </p:nvSpPr>
        <p:spPr>
          <a:xfrm>
            <a:off x="6217920" y="2286000"/>
            <a:ext cx="2651760" cy="3383280"/>
          </a:xfrm>
          <a:prstGeom prst="roundRect">
            <a:avLst>
              <a:gd name="adj" fmla="val 2759"/>
            </a:avLst>
          </a:prstGeom>
          <a:solidFill>
            <a:schemeClr val="accent1"/>
          </a:solidFill>
          <a:ln/>
          <a:effectLst>
            <a:outerShdw sx="100000" sy="100000" kx="0" ky="0" algn="bl" rotWithShape="0" blurRad="76200" dist="25400" dir="5400000">
              <a:srgbClr val="0F2A33">
                <a:alpha val="12000"/>
              </a:srgbClr>
            </a:outerShdw>
          </a:effectLst>
        </p:spPr>
      </p:sp>
      <p:sp>
        <p:nvSpPr>
          <p:cNvPr id="12" name="Text 10"/>
          <p:cNvSpPr txBox="1"/>
          <p:nvPr/>
        </p:nvSpPr>
        <p:spPr>
          <a:xfrm>
            <a:off x="6446520" y="2423160"/>
            <a:ext cx="2194560" cy="640080"/>
          </a:xfrm>
          <a:prstGeom prst="rect">
            <a:avLst/>
          </a:prstGeom>
          <a:noFill/>
          <a:ln/>
        </p:spPr>
        <p:txBody>
          <a:bodyPr wrap="square" lIns="0" tIns="0" rIns="0" bIns="0" rtlCol="0" anchor="t"/>
          <a:lstStyle/>
          <a:p>
            <a:pPr indent="0" marL="0">
              <a:buNone/>
            </a:pPr>
            <a:r>
              <a:rPr lang="en-US" sz="3600" b="1" dirty="0">
                <a:solidFill>
                  <a:schemeClr val="bg1"/>
                </a:solidFill>
                <a:latin typeface="Cambria" pitchFamily="34" charset="0"/>
                <a:ea typeface="Cambria" pitchFamily="34" charset="-122"/>
                <a:cs typeface="Cambria" pitchFamily="34" charset="-120"/>
              </a:rPr>
              <a:t>L2</a:t>
            </a:r>
            <a:endParaRPr lang="en-US" sz="3600" dirty="0"/>
          </a:p>
        </p:txBody>
      </p:sp>
      <p:sp>
        <p:nvSpPr>
          <p:cNvPr id="13" name="Text 11"/>
          <p:cNvSpPr txBox="1"/>
          <p:nvPr/>
        </p:nvSpPr>
        <p:spPr>
          <a:xfrm>
            <a:off x="6446520" y="3108960"/>
            <a:ext cx="2194560" cy="1097280"/>
          </a:xfrm>
          <a:prstGeom prst="rect">
            <a:avLst/>
          </a:prstGeom>
          <a:noFill/>
          <a:ln/>
        </p:spPr>
        <p:txBody>
          <a:bodyPr wrap="square" lIns="0" tIns="0" rIns="0" bIns="0" rtlCol="0" anchor="t"/>
          <a:lstStyle/>
          <a:p>
            <a:pPr indent="0" marL="0">
              <a:buNone/>
            </a:pPr>
            <a:r>
              <a:rPr lang="en-US" sz="1500" dirty="0">
                <a:solidFill>
                  <a:schemeClr val="bg1"/>
                </a:solidFill>
              </a:rPr>
              <a:t>Code mounts and the entry point's imports resolve</a:t>
            </a:r>
            <a:endParaRPr lang="en-US" sz="1500" dirty="0"/>
          </a:p>
        </p:txBody>
      </p:sp>
      <p:sp>
        <p:nvSpPr>
          <p:cNvPr id="14" name="Text 12"/>
          <p:cNvSpPr txBox="1"/>
          <p:nvPr/>
        </p:nvSpPr>
        <p:spPr>
          <a:xfrm>
            <a:off x="6446520" y="4892040"/>
            <a:ext cx="2194560" cy="685800"/>
          </a:xfrm>
          <a:prstGeom prst="rect">
            <a:avLst/>
          </a:prstGeom>
          <a:noFill/>
          <a:ln/>
        </p:spPr>
        <p:txBody>
          <a:bodyPr wrap="square" lIns="0" tIns="0" rIns="0" bIns="0" rtlCol="0" anchor="b"/>
          <a:lstStyle/>
          <a:p>
            <a:pPr indent="0" marL="0">
              <a:buNone/>
            </a:pPr>
            <a:r>
              <a:rPr lang="en-US" sz="1200" b="1" dirty="0">
                <a:solidFill>
                  <a:schemeClr val="bg1"/>
                </a:solidFill>
              </a:rPr>
              <a:t>Failure means: </a:t>
            </a:r>
            <a:pPr indent="0" marL="0">
              <a:buNone/>
            </a:pPr>
            <a:r>
              <a:rPr lang="en-US" sz="1200" dirty="0">
                <a:solidFill>
                  <a:schemeClr val="bg1"/>
                </a:solidFill>
              </a:rPr>
              <a:t>Mount or code problem</a:t>
            </a:r>
            <a:endParaRPr lang="en-US" sz="1200" dirty="0"/>
          </a:p>
        </p:txBody>
      </p:sp>
      <p:sp>
        <p:nvSpPr>
          <p:cNvPr id="15" name="rung-L3"/>
          <p:cNvSpPr/>
          <p:nvPr/>
        </p:nvSpPr>
        <p:spPr>
          <a:xfrm>
            <a:off x="9052560" y="1645920"/>
            <a:ext cx="2651760" cy="4023360"/>
          </a:xfrm>
          <a:prstGeom prst="roundRect">
            <a:avLst>
              <a:gd name="adj" fmla="val 2759"/>
            </a:avLst>
          </a:prstGeom>
          <a:solidFill>
            <a:schemeClr val="accent6"/>
          </a:solidFill>
          <a:ln/>
          <a:effectLst>
            <a:outerShdw sx="100000" sy="100000" kx="0" ky="0" algn="bl" rotWithShape="0" blurRad="76200" dist="25400" dir="5400000">
              <a:srgbClr val="0F2A33">
                <a:alpha val="12000"/>
              </a:srgbClr>
            </a:outerShdw>
          </a:effectLst>
        </p:spPr>
      </p:sp>
      <p:sp>
        <p:nvSpPr>
          <p:cNvPr id="16" name="Text 14"/>
          <p:cNvSpPr txBox="1"/>
          <p:nvPr/>
        </p:nvSpPr>
        <p:spPr>
          <a:xfrm>
            <a:off x="9281160" y="1783080"/>
            <a:ext cx="2194560" cy="640080"/>
          </a:xfrm>
          <a:prstGeom prst="rect">
            <a:avLst/>
          </a:prstGeom>
          <a:noFill/>
          <a:ln/>
        </p:spPr>
        <p:txBody>
          <a:bodyPr wrap="square" lIns="0" tIns="0" rIns="0" bIns="0" rtlCol="0" anchor="t"/>
          <a:lstStyle/>
          <a:p>
            <a:pPr indent="0" marL="0">
              <a:buNone/>
            </a:pPr>
            <a:r>
              <a:rPr lang="en-US" sz="3600" b="1" dirty="0">
                <a:solidFill>
                  <a:schemeClr val="bg1"/>
                </a:solidFill>
                <a:latin typeface="Cambria" pitchFamily="34" charset="0"/>
                <a:ea typeface="Cambria" pitchFamily="34" charset="-122"/>
                <a:cs typeface="Cambria" pitchFamily="34" charset="-120"/>
              </a:rPr>
              <a:t>L3</a:t>
            </a:r>
            <a:endParaRPr lang="en-US" sz="3600" dirty="0"/>
          </a:p>
        </p:txBody>
      </p:sp>
      <p:sp>
        <p:nvSpPr>
          <p:cNvPr id="17" name="Text 15"/>
          <p:cNvSpPr txBox="1"/>
          <p:nvPr/>
        </p:nvSpPr>
        <p:spPr>
          <a:xfrm>
            <a:off x="9281160" y="2468880"/>
            <a:ext cx="2194560" cy="1097280"/>
          </a:xfrm>
          <a:prstGeom prst="rect">
            <a:avLst/>
          </a:prstGeom>
          <a:noFill/>
          <a:ln/>
        </p:spPr>
        <p:txBody>
          <a:bodyPr wrap="square" lIns="0" tIns="0" rIns="0" bIns="0" rtlCol="0" anchor="t"/>
          <a:lstStyle/>
          <a:p>
            <a:pPr indent="0" marL="0">
              <a:buNone/>
            </a:pPr>
            <a:r>
              <a:rPr lang="en-US" sz="1500" dirty="0">
                <a:solidFill>
                  <a:schemeClr val="bg1"/>
                </a:solidFill>
              </a:rPr>
              <a:t>A short run completes and writes its outputs</a:t>
            </a:r>
            <a:endParaRPr lang="en-US" sz="1500" dirty="0"/>
          </a:p>
        </p:txBody>
      </p:sp>
      <p:sp>
        <p:nvSpPr>
          <p:cNvPr id="18" name="Text 16"/>
          <p:cNvSpPr txBox="1"/>
          <p:nvPr/>
        </p:nvSpPr>
        <p:spPr>
          <a:xfrm>
            <a:off x="9281160" y="4892040"/>
            <a:ext cx="2194560" cy="685800"/>
          </a:xfrm>
          <a:prstGeom prst="rect">
            <a:avLst/>
          </a:prstGeom>
          <a:noFill/>
          <a:ln/>
        </p:spPr>
        <p:txBody>
          <a:bodyPr wrap="square" lIns="0" tIns="0" rIns="0" bIns="0" rtlCol="0" anchor="b"/>
          <a:lstStyle/>
          <a:p>
            <a:pPr indent="0" marL="0">
              <a:buNone/>
            </a:pPr>
            <a:r>
              <a:rPr lang="en-US" sz="1200" b="1" dirty="0">
                <a:solidFill>
                  <a:schemeClr val="bg1"/>
                </a:solidFill>
              </a:rPr>
              <a:t>Failure means: </a:t>
            </a:r>
            <a:pPr indent="0" marL="0">
              <a:buNone/>
            </a:pPr>
            <a:r>
              <a:rPr lang="en-US" sz="1200" dirty="0">
                <a:solidFill>
                  <a:schemeClr val="bg1"/>
                </a:solidFill>
              </a:rPr>
              <a:t>Runtime problem</a:t>
            </a:r>
            <a:endParaRPr lang="en-US" sz="1200" dirty="0"/>
          </a:p>
        </p:txBody>
      </p:sp>
      <p:sp>
        <p:nvSpPr>
          <p:cNvPr id="19" name="Text 17"/>
          <p:cNvSpPr txBox="1"/>
          <p:nvPr/>
        </p:nvSpPr>
        <p:spPr>
          <a:xfrm>
            <a:off x="548640" y="5760720"/>
            <a:ext cx="11064240" cy="548640"/>
          </a:xfrm>
          <a:prstGeom prst="rect">
            <a:avLst/>
          </a:prstGeom>
          <a:noFill/>
          <a:ln/>
        </p:spPr>
        <p:txBody>
          <a:bodyPr wrap="square" lIns="0" tIns="0" rIns="0" bIns="0" rtlCol="0" anchor="t"/>
          <a:lstStyle/>
          <a:p>
            <a:pPr indent="0" marL="0">
              <a:buNone/>
            </a:pPr>
            <a:r>
              <a:rPr lang="en-US" sz="1400" b="1" dirty="0">
                <a:solidFill>
                  <a:schemeClr val="tx1"/>
                </a:solidFill>
              </a:rPr>
              <a:t>L1 to L3 run with network disabled. </a:t>
            </a:r>
            <a:pPr indent="0" marL="0">
              <a:buNone/>
            </a:pPr>
            <a:r>
              <a:rPr lang="en-US" sz="1400" dirty="0">
                <a:solidFill>
                  <a:schemeClr val="tx1"/>
                </a:solidFill>
              </a:rPr>
              <a:t>A model that only runs with live network access has not been verified. L4 (match a reference trace) exists as a schema field and is always null in Phase 0.</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808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rgbClr val="0F2A33"/>
                </a:solidFill>
              </a:rPr>
              <a:t>One failure, one typed repair</a:t>
            </a:r>
            <a:endParaRPr lang="en-US" sz="3400" dirty="0"/>
          </a:p>
        </p:txBody>
      </p:sp>
      <p:sp>
        <p:nvSpPr>
          <p:cNvPr id="3" name="plane-0"/>
          <p:cNvSpPr/>
          <p:nvPr/>
        </p:nvSpPr>
        <p:spPr>
          <a:xfrm>
            <a:off x="548640" y="1463040"/>
            <a:ext cx="5669280" cy="1371600"/>
          </a:xfrm>
          <a:prstGeom prst="roundRect">
            <a:avLst>
              <a:gd name="adj" fmla="val 5333"/>
            </a:avLst>
          </a:prstGeom>
          <a:solidFill>
            <a:schemeClr val="bg2"/>
          </a:solidFill>
          <a:ln/>
          <a:effectLst>
            <a:outerShdw sx="100000" sy="100000" kx="0" ky="0" algn="bl" rotWithShape="0" blurRad="76200" dist="25400" dir="5400000">
              <a:srgbClr val="0F2A33">
                <a:alpha val="12000"/>
              </a:srgbClr>
            </a:outerShdw>
          </a:effectLst>
        </p:spPr>
      </p:sp>
      <p:sp>
        <p:nvSpPr>
          <p:cNvPr id="4" name="Shape 2"/>
          <p:cNvSpPr/>
          <p:nvPr/>
        </p:nvSpPr>
        <p:spPr>
          <a:xfrm>
            <a:off x="777240" y="1645920"/>
            <a:ext cx="1371600" cy="329184"/>
          </a:xfrm>
          <a:prstGeom prst="roundRect">
            <a:avLst>
              <a:gd name="adj" fmla="val 50000"/>
            </a:avLst>
          </a:prstGeom>
          <a:solidFill>
            <a:schemeClr val="accent1"/>
          </a:solidFill>
          <a:ln/>
        </p:spPr>
      </p:sp>
      <p:sp>
        <p:nvSpPr>
          <p:cNvPr id="5" name="Text 3"/>
          <p:cNvSpPr txBox="1"/>
          <p:nvPr/>
        </p:nvSpPr>
        <p:spPr>
          <a:xfrm>
            <a:off x="777240" y="1645920"/>
            <a:ext cx="1371600" cy="329184"/>
          </a:xfrm>
          <a:prstGeom prst="rect">
            <a:avLst/>
          </a:prstGeom>
          <a:noFill/>
          <a:ln/>
        </p:spPr>
        <p:txBody>
          <a:bodyPr wrap="square" lIns="0" tIns="0" rIns="0" bIns="0" rtlCol="0" anchor="ctr"/>
          <a:lstStyle/>
          <a:p>
            <a:pPr algn="ctr" indent="0" marL="0">
              <a:buNone/>
            </a:pPr>
            <a:r>
              <a:rPr lang="en-US" sz="1300" b="1" dirty="0">
                <a:solidFill>
                  <a:srgbClr val="FFFFFF"/>
                </a:solidFill>
              </a:rPr>
              <a:t>Spec</a:t>
            </a:r>
            <a:endParaRPr lang="en-US" sz="1300" dirty="0"/>
          </a:p>
        </p:txBody>
      </p:sp>
      <p:sp>
        <p:nvSpPr>
          <p:cNvPr id="6" name="Text 4"/>
          <p:cNvSpPr txBox="1"/>
          <p:nvPr/>
        </p:nvSpPr>
        <p:spPr>
          <a:xfrm>
            <a:off x="777240" y="2057400"/>
            <a:ext cx="5212080" cy="731520"/>
          </a:xfrm>
          <a:prstGeom prst="rect">
            <a:avLst/>
          </a:prstGeom>
          <a:noFill/>
          <a:ln/>
        </p:spPr>
        <p:txBody>
          <a:bodyPr wrap="square" lIns="0" tIns="0" rIns="0" bIns="0" rtlCol="0" anchor="t"/>
          <a:lstStyle/>
          <a:p>
            <a:pPr indent="0" marL="0">
              <a:buNone/>
            </a:pPr>
            <a:r>
              <a:rPr lang="en-US" sz="1400" dirty="0">
                <a:solidFill>
                  <a:schemeClr val="tx1"/>
                </a:solidFill>
              </a:rPr>
              <a:t>Fixable by changing the EnvSpec: missing system lib, dependency conflict, ABI mismatch. Agent applies one typed action and retries.</a:t>
            </a:r>
            <a:endParaRPr lang="en-US" sz="1400" dirty="0"/>
          </a:p>
        </p:txBody>
      </p:sp>
      <p:sp>
        <p:nvSpPr>
          <p:cNvPr id="7" name="plane-1"/>
          <p:cNvSpPr/>
          <p:nvPr/>
        </p:nvSpPr>
        <p:spPr>
          <a:xfrm>
            <a:off x="548640" y="3017520"/>
            <a:ext cx="5669280" cy="1371600"/>
          </a:xfrm>
          <a:prstGeom prst="roundRect">
            <a:avLst>
              <a:gd name="adj" fmla="val 5333"/>
            </a:avLst>
          </a:prstGeom>
          <a:solidFill>
            <a:schemeClr val="bg2"/>
          </a:solidFill>
          <a:ln/>
          <a:effectLst>
            <a:outerShdw sx="100000" sy="100000" kx="0" ky="0" algn="bl" rotWithShape="0" blurRad="76200" dist="25400" dir="5400000">
              <a:srgbClr val="0F2A33">
                <a:alpha val="12000"/>
              </a:srgbClr>
            </a:outerShdw>
          </a:effectLst>
        </p:spPr>
      </p:sp>
      <p:sp>
        <p:nvSpPr>
          <p:cNvPr id="8" name="Shape 6"/>
          <p:cNvSpPr/>
          <p:nvPr/>
        </p:nvSpPr>
        <p:spPr>
          <a:xfrm>
            <a:off x="777240" y="3200400"/>
            <a:ext cx="1371600" cy="329184"/>
          </a:xfrm>
          <a:prstGeom prst="roundRect">
            <a:avLst>
              <a:gd name="adj" fmla="val 50000"/>
            </a:avLst>
          </a:prstGeom>
          <a:solidFill>
            <a:schemeClr val="accent4"/>
          </a:solidFill>
          <a:ln/>
        </p:spPr>
      </p:sp>
      <p:sp>
        <p:nvSpPr>
          <p:cNvPr id="9" name="Text 7"/>
          <p:cNvSpPr txBox="1"/>
          <p:nvPr/>
        </p:nvSpPr>
        <p:spPr>
          <a:xfrm>
            <a:off x="777240" y="3200400"/>
            <a:ext cx="1371600" cy="329184"/>
          </a:xfrm>
          <a:prstGeom prst="rect">
            <a:avLst/>
          </a:prstGeom>
          <a:noFill/>
          <a:ln/>
        </p:spPr>
        <p:txBody>
          <a:bodyPr wrap="square" lIns="0" tIns="0" rIns="0" bIns="0" rtlCol="0" anchor="ctr"/>
          <a:lstStyle/>
          <a:p>
            <a:pPr algn="ctr" indent="0" marL="0">
              <a:buNone/>
            </a:pPr>
            <a:r>
              <a:rPr lang="en-US" sz="1300" b="1" dirty="0">
                <a:solidFill>
                  <a:srgbClr val="FFFFFF"/>
                </a:solidFill>
              </a:rPr>
              <a:t>Substrate</a:t>
            </a:r>
            <a:endParaRPr lang="en-US" sz="1300" dirty="0"/>
          </a:p>
        </p:txBody>
      </p:sp>
      <p:sp>
        <p:nvSpPr>
          <p:cNvPr id="10" name="Text 8"/>
          <p:cNvSpPr txBox="1"/>
          <p:nvPr/>
        </p:nvSpPr>
        <p:spPr>
          <a:xfrm>
            <a:off x="777240" y="3611880"/>
            <a:ext cx="5212080" cy="731520"/>
          </a:xfrm>
          <a:prstGeom prst="rect">
            <a:avLst/>
          </a:prstGeom>
          <a:noFill/>
          <a:ln/>
        </p:spPr>
        <p:txBody>
          <a:bodyPr wrap="square" lIns="0" tIns="0" rIns="0" bIns="0" rtlCol="0" anchor="t"/>
          <a:lstStyle/>
          <a:p>
            <a:pPr indent="0" marL="0">
              <a:buNone/>
            </a:pPr>
            <a:r>
              <a:rPr lang="en-US" sz="1400" dirty="0">
                <a:solidFill>
                  <a:schemeClr val="tx1"/>
                </a:solidFill>
              </a:rPr>
              <a:t>DNS, registry, package index down. Spec is not at fault: re-run the same spec, attempt not charged, no patch allowed.</a:t>
            </a:r>
            <a:endParaRPr lang="en-US" sz="1400" dirty="0"/>
          </a:p>
        </p:txBody>
      </p:sp>
      <p:sp>
        <p:nvSpPr>
          <p:cNvPr id="11" name="plane-2"/>
          <p:cNvSpPr/>
          <p:nvPr/>
        </p:nvSpPr>
        <p:spPr>
          <a:xfrm>
            <a:off x="548640" y="4572000"/>
            <a:ext cx="5669280" cy="1371600"/>
          </a:xfrm>
          <a:prstGeom prst="roundRect">
            <a:avLst>
              <a:gd name="adj" fmla="val 5333"/>
            </a:avLst>
          </a:prstGeom>
          <a:solidFill>
            <a:schemeClr val="bg2"/>
          </a:solidFill>
          <a:ln/>
          <a:effectLst>
            <a:outerShdw sx="100000" sy="100000" kx="0" ky="0" algn="bl" rotWithShape="0" blurRad="76200" dist="25400" dir="5400000">
              <a:srgbClr val="0F2A33">
                <a:alpha val="12000"/>
              </a:srgbClr>
            </a:outerShdw>
          </a:effectLst>
        </p:spPr>
      </p:sp>
      <p:sp>
        <p:nvSpPr>
          <p:cNvPr id="12" name="Shape 10"/>
          <p:cNvSpPr/>
          <p:nvPr/>
        </p:nvSpPr>
        <p:spPr>
          <a:xfrm>
            <a:off x="777240" y="4754880"/>
            <a:ext cx="2194560" cy="329184"/>
          </a:xfrm>
          <a:prstGeom prst="roundRect">
            <a:avLst>
              <a:gd name="adj" fmla="val 50000"/>
            </a:avLst>
          </a:prstGeom>
          <a:solidFill>
            <a:schemeClr val="accent3"/>
          </a:solidFill>
          <a:ln/>
        </p:spPr>
      </p:sp>
      <p:sp>
        <p:nvSpPr>
          <p:cNvPr id="13" name="Text 11"/>
          <p:cNvSpPr txBox="1"/>
          <p:nvPr/>
        </p:nvSpPr>
        <p:spPr>
          <a:xfrm>
            <a:off x="777240" y="4754880"/>
            <a:ext cx="2194560" cy="329184"/>
          </a:xfrm>
          <a:prstGeom prst="rect">
            <a:avLst/>
          </a:prstGeom>
          <a:noFill/>
          <a:ln/>
        </p:spPr>
        <p:txBody>
          <a:bodyPr wrap="square" lIns="0" tIns="0" rIns="0" bIns="0" rtlCol="0" anchor="ctr"/>
          <a:lstStyle/>
          <a:p>
            <a:pPr algn="ctr" indent="0" marL="0">
              <a:buNone/>
            </a:pPr>
            <a:r>
              <a:rPr lang="en-US" sz="1300" b="1" dirty="0">
                <a:solidFill>
                  <a:srgbClr val="FFFFFF"/>
                </a:solidFill>
              </a:rPr>
              <a:t>Model or annotation</a:t>
            </a:r>
            <a:endParaRPr lang="en-US" sz="1300" dirty="0"/>
          </a:p>
        </p:txBody>
      </p:sp>
      <p:sp>
        <p:nvSpPr>
          <p:cNvPr id="14" name="Text 12"/>
          <p:cNvSpPr txBox="1"/>
          <p:nvPr/>
        </p:nvSpPr>
        <p:spPr>
          <a:xfrm>
            <a:off x="777240" y="5166360"/>
            <a:ext cx="5212080" cy="731520"/>
          </a:xfrm>
          <a:prstGeom prst="rect">
            <a:avLst/>
          </a:prstGeom>
          <a:noFill/>
          <a:ln/>
        </p:spPr>
        <p:txBody>
          <a:bodyPr wrap="square" lIns="0" tIns="0" rIns="0" bIns="0" rtlCol="0" anchor="t"/>
          <a:lstStyle/>
          <a:p>
            <a:pPr indent="0" marL="0">
              <a:buNone/>
            </a:pPr>
            <a:r>
              <a:rPr lang="en-US" sz="1400" dirty="0">
                <a:solidFill>
                  <a:schemeClr val="tx1"/>
                </a:solidFill>
              </a:rPr>
              <a:t>Missing data file, no entry point, licence, unsupported toolchain. Close honestly: back to submitter or escalate.</a:t>
            </a:r>
            <a:endParaRPr lang="en-US" sz="1400" dirty="0"/>
          </a:p>
        </p:txBody>
      </p:sp>
      <p:sp>
        <p:nvSpPr>
          <p:cNvPr id="15" name="Text 13"/>
          <p:cNvSpPr txBox="1"/>
          <p:nvPr/>
        </p:nvSpPr>
        <p:spPr>
          <a:xfrm>
            <a:off x="6583680" y="1463040"/>
            <a:ext cx="5029200" cy="365760"/>
          </a:xfrm>
          <a:prstGeom prst="rect">
            <a:avLst/>
          </a:prstGeom>
          <a:noFill/>
          <a:ln/>
        </p:spPr>
        <p:txBody>
          <a:bodyPr wrap="square" lIns="0" tIns="0" rIns="0" bIns="0" rtlCol="0" anchor="t"/>
          <a:lstStyle/>
          <a:p>
            <a:pPr indent="0" marL="0">
              <a:buNone/>
            </a:pPr>
            <a:r>
              <a:rPr lang="en-US" sz="1800" b="1" dirty="0">
                <a:solidFill>
                  <a:schemeClr val="accent1"/>
                </a:solidFill>
              </a:rPr>
              <a:t>Typed actions, exactly one per attempt</a:t>
            </a:r>
            <a:endParaRPr lang="en-US" sz="1800" dirty="0"/>
          </a:p>
        </p:txBody>
      </p:sp>
      <p:sp>
        <p:nvSpPr>
          <p:cNvPr id="16" name="Shape 14"/>
          <p:cNvSpPr/>
          <p:nvPr/>
        </p:nvSpPr>
        <p:spPr>
          <a:xfrm>
            <a:off x="6583680" y="1965960"/>
            <a:ext cx="2468880" cy="347472"/>
          </a:xfrm>
          <a:prstGeom prst="roundRect">
            <a:avLst>
              <a:gd name="adj" fmla="val 50000"/>
            </a:avLst>
          </a:prstGeom>
          <a:solidFill>
            <a:srgbClr val="0F2A33"/>
          </a:solidFill>
          <a:ln/>
        </p:spPr>
      </p:sp>
      <p:sp>
        <p:nvSpPr>
          <p:cNvPr id="17" name="Text 15"/>
          <p:cNvSpPr txBox="1"/>
          <p:nvPr/>
        </p:nvSpPr>
        <p:spPr>
          <a:xfrm>
            <a:off x="6583680" y="1965960"/>
            <a:ext cx="2468880" cy="347472"/>
          </a:xfrm>
          <a:prstGeom prst="rect">
            <a:avLst/>
          </a:prstGeom>
          <a:noFill/>
          <a:ln/>
        </p:spPr>
        <p:txBody>
          <a:bodyPr wrap="square" lIns="0" tIns="0" rIns="0" bIns="0" rtlCol="0" anchor="ctr"/>
          <a:lstStyle/>
          <a:p>
            <a:pPr algn="ctr" indent="0" marL="0">
              <a:buNone/>
            </a:pPr>
            <a:r>
              <a:rPr lang="en-US" sz="1100" b="1" dirty="0">
                <a:solidFill>
                  <a:srgbClr val="FFFFFF"/>
                </a:solidFill>
              </a:rPr>
              <a:t>ADD_APT_PKG</a:t>
            </a:r>
            <a:endParaRPr lang="en-US" sz="1100" dirty="0"/>
          </a:p>
        </p:txBody>
      </p:sp>
      <p:sp>
        <p:nvSpPr>
          <p:cNvPr id="18" name="Shape 16"/>
          <p:cNvSpPr/>
          <p:nvPr/>
        </p:nvSpPr>
        <p:spPr>
          <a:xfrm>
            <a:off x="9144000" y="1965960"/>
            <a:ext cx="2468880" cy="347472"/>
          </a:xfrm>
          <a:prstGeom prst="roundRect">
            <a:avLst>
              <a:gd name="adj" fmla="val 50000"/>
            </a:avLst>
          </a:prstGeom>
          <a:solidFill>
            <a:srgbClr val="0F2A33"/>
          </a:solidFill>
          <a:ln/>
        </p:spPr>
      </p:sp>
      <p:sp>
        <p:nvSpPr>
          <p:cNvPr id="19" name="Text 17"/>
          <p:cNvSpPr txBox="1"/>
          <p:nvPr/>
        </p:nvSpPr>
        <p:spPr>
          <a:xfrm>
            <a:off x="9144000" y="1965960"/>
            <a:ext cx="2468880" cy="347472"/>
          </a:xfrm>
          <a:prstGeom prst="rect">
            <a:avLst/>
          </a:prstGeom>
          <a:noFill/>
          <a:ln/>
        </p:spPr>
        <p:txBody>
          <a:bodyPr wrap="square" lIns="0" tIns="0" rIns="0" bIns="0" rtlCol="0" anchor="ctr"/>
          <a:lstStyle/>
          <a:p>
            <a:pPr algn="ctr" indent="0" marL="0">
              <a:buNone/>
            </a:pPr>
            <a:r>
              <a:rPr lang="en-US" sz="1100" b="1" dirty="0">
                <a:solidFill>
                  <a:srgbClr val="FFFFFF"/>
                </a:solidFill>
              </a:rPr>
              <a:t>ADD_PKG</a:t>
            </a:r>
            <a:endParaRPr lang="en-US" sz="1100" dirty="0"/>
          </a:p>
        </p:txBody>
      </p:sp>
      <p:sp>
        <p:nvSpPr>
          <p:cNvPr id="20" name="Shape 18"/>
          <p:cNvSpPr/>
          <p:nvPr/>
        </p:nvSpPr>
        <p:spPr>
          <a:xfrm>
            <a:off x="6583680" y="2404872"/>
            <a:ext cx="2468880" cy="347472"/>
          </a:xfrm>
          <a:prstGeom prst="roundRect">
            <a:avLst>
              <a:gd name="adj" fmla="val 50000"/>
            </a:avLst>
          </a:prstGeom>
          <a:solidFill>
            <a:srgbClr val="0F2A33"/>
          </a:solidFill>
          <a:ln/>
        </p:spPr>
      </p:sp>
      <p:sp>
        <p:nvSpPr>
          <p:cNvPr id="21" name="Text 19"/>
          <p:cNvSpPr txBox="1"/>
          <p:nvPr/>
        </p:nvSpPr>
        <p:spPr>
          <a:xfrm>
            <a:off x="6583680" y="2404872"/>
            <a:ext cx="2468880" cy="347472"/>
          </a:xfrm>
          <a:prstGeom prst="rect">
            <a:avLst/>
          </a:prstGeom>
          <a:noFill/>
          <a:ln/>
        </p:spPr>
        <p:txBody>
          <a:bodyPr wrap="square" lIns="0" tIns="0" rIns="0" bIns="0" rtlCol="0" anchor="ctr"/>
          <a:lstStyle/>
          <a:p>
            <a:pPr algn="ctr" indent="0" marL="0">
              <a:buNone/>
            </a:pPr>
            <a:r>
              <a:rPr lang="en-US" sz="1100" b="1" dirty="0">
                <a:solidFill>
                  <a:srgbClr val="FFFFFF"/>
                </a:solidFill>
              </a:rPr>
              <a:t>PIN_PKG</a:t>
            </a:r>
            <a:endParaRPr lang="en-US" sz="1100" dirty="0"/>
          </a:p>
        </p:txBody>
      </p:sp>
      <p:sp>
        <p:nvSpPr>
          <p:cNvPr id="22" name="Shape 20"/>
          <p:cNvSpPr/>
          <p:nvPr/>
        </p:nvSpPr>
        <p:spPr>
          <a:xfrm>
            <a:off x="9144000" y="2404872"/>
            <a:ext cx="2468880" cy="347472"/>
          </a:xfrm>
          <a:prstGeom prst="roundRect">
            <a:avLst>
              <a:gd name="adj" fmla="val 50000"/>
            </a:avLst>
          </a:prstGeom>
          <a:solidFill>
            <a:srgbClr val="0F2A33"/>
          </a:solidFill>
          <a:ln/>
        </p:spPr>
      </p:sp>
      <p:sp>
        <p:nvSpPr>
          <p:cNvPr id="23" name="Text 21"/>
          <p:cNvSpPr txBox="1"/>
          <p:nvPr/>
        </p:nvSpPr>
        <p:spPr>
          <a:xfrm>
            <a:off x="9144000" y="2404872"/>
            <a:ext cx="2468880" cy="347472"/>
          </a:xfrm>
          <a:prstGeom prst="rect">
            <a:avLst/>
          </a:prstGeom>
          <a:noFill/>
          <a:ln/>
        </p:spPr>
        <p:txBody>
          <a:bodyPr wrap="square" lIns="0" tIns="0" rIns="0" bIns="0" rtlCol="0" anchor="ctr"/>
          <a:lstStyle/>
          <a:p>
            <a:pPr algn="ctr" indent="0" marL="0">
              <a:buNone/>
            </a:pPr>
            <a:r>
              <a:rPr lang="en-US" sz="1100" b="1" dirty="0">
                <a:solidFill>
                  <a:srgbClr val="FFFFFF"/>
                </a:solidFill>
              </a:rPr>
              <a:t>UNPIN_PKG</a:t>
            </a:r>
            <a:endParaRPr lang="en-US" sz="1100" dirty="0"/>
          </a:p>
        </p:txBody>
      </p:sp>
      <p:sp>
        <p:nvSpPr>
          <p:cNvPr id="24" name="Shape 22"/>
          <p:cNvSpPr/>
          <p:nvPr/>
        </p:nvSpPr>
        <p:spPr>
          <a:xfrm>
            <a:off x="6583680" y="2843784"/>
            <a:ext cx="2468880" cy="347472"/>
          </a:xfrm>
          <a:prstGeom prst="roundRect">
            <a:avLst>
              <a:gd name="adj" fmla="val 50000"/>
            </a:avLst>
          </a:prstGeom>
          <a:solidFill>
            <a:srgbClr val="0F2A33"/>
          </a:solidFill>
          <a:ln/>
        </p:spPr>
      </p:sp>
      <p:sp>
        <p:nvSpPr>
          <p:cNvPr id="25" name="Text 23"/>
          <p:cNvSpPr txBox="1"/>
          <p:nvPr/>
        </p:nvSpPr>
        <p:spPr>
          <a:xfrm>
            <a:off x="6583680" y="2843784"/>
            <a:ext cx="2468880" cy="347472"/>
          </a:xfrm>
          <a:prstGeom prst="rect">
            <a:avLst/>
          </a:prstGeom>
          <a:noFill/>
          <a:ln/>
        </p:spPr>
        <p:txBody>
          <a:bodyPr wrap="square" lIns="0" tIns="0" rIns="0" bIns="0" rtlCol="0" anchor="ctr"/>
          <a:lstStyle/>
          <a:p>
            <a:pPr algn="ctr" indent="0" marL="0">
              <a:buNone/>
            </a:pPr>
            <a:r>
              <a:rPr lang="en-US" sz="1100" b="1" dirty="0">
                <a:solidFill>
                  <a:srgbClr val="FFFFFF"/>
                </a:solidFill>
              </a:rPr>
              <a:t>REMOVE_PKG</a:t>
            </a:r>
            <a:endParaRPr lang="en-US" sz="1100" dirty="0"/>
          </a:p>
        </p:txBody>
      </p:sp>
      <p:sp>
        <p:nvSpPr>
          <p:cNvPr id="26" name="Shape 24"/>
          <p:cNvSpPr/>
          <p:nvPr/>
        </p:nvSpPr>
        <p:spPr>
          <a:xfrm>
            <a:off x="9144000" y="2843784"/>
            <a:ext cx="2468880" cy="347472"/>
          </a:xfrm>
          <a:prstGeom prst="roundRect">
            <a:avLst>
              <a:gd name="adj" fmla="val 50000"/>
            </a:avLst>
          </a:prstGeom>
          <a:solidFill>
            <a:srgbClr val="0F2A33"/>
          </a:solidFill>
          <a:ln/>
        </p:spPr>
      </p:sp>
      <p:sp>
        <p:nvSpPr>
          <p:cNvPr id="27" name="Text 25"/>
          <p:cNvSpPr txBox="1"/>
          <p:nvPr/>
        </p:nvSpPr>
        <p:spPr>
          <a:xfrm>
            <a:off x="9144000" y="2843784"/>
            <a:ext cx="2468880" cy="347472"/>
          </a:xfrm>
          <a:prstGeom prst="rect">
            <a:avLst/>
          </a:prstGeom>
          <a:noFill/>
          <a:ln/>
        </p:spPr>
        <p:txBody>
          <a:bodyPr wrap="square" lIns="0" tIns="0" rIns="0" bIns="0" rtlCol="0" anchor="ctr"/>
          <a:lstStyle/>
          <a:p>
            <a:pPr algn="ctr" indent="0" marL="0">
              <a:buNone/>
            </a:pPr>
            <a:r>
              <a:rPr lang="en-US" sz="1100" b="1" dirty="0">
                <a:solidFill>
                  <a:srgbClr val="FFFFFF"/>
                </a:solidFill>
              </a:rPr>
              <a:t>CHANGE_BASE_IMAGE</a:t>
            </a:r>
            <a:endParaRPr lang="en-US" sz="1100" dirty="0"/>
          </a:p>
        </p:txBody>
      </p:sp>
      <p:sp>
        <p:nvSpPr>
          <p:cNvPr id="28" name="Shape 26"/>
          <p:cNvSpPr/>
          <p:nvPr/>
        </p:nvSpPr>
        <p:spPr>
          <a:xfrm>
            <a:off x="6583680" y="3282696"/>
            <a:ext cx="2468880" cy="347472"/>
          </a:xfrm>
          <a:prstGeom prst="roundRect">
            <a:avLst>
              <a:gd name="adj" fmla="val 50000"/>
            </a:avLst>
          </a:prstGeom>
          <a:solidFill>
            <a:srgbClr val="0F2A33"/>
          </a:solidFill>
          <a:ln/>
        </p:spPr>
      </p:sp>
      <p:sp>
        <p:nvSpPr>
          <p:cNvPr id="29" name="Text 27"/>
          <p:cNvSpPr txBox="1"/>
          <p:nvPr/>
        </p:nvSpPr>
        <p:spPr>
          <a:xfrm>
            <a:off x="6583680" y="3282696"/>
            <a:ext cx="2468880" cy="347472"/>
          </a:xfrm>
          <a:prstGeom prst="rect">
            <a:avLst/>
          </a:prstGeom>
          <a:noFill/>
          <a:ln/>
        </p:spPr>
        <p:txBody>
          <a:bodyPr wrap="square" lIns="0" tIns="0" rIns="0" bIns="0" rtlCol="0" anchor="ctr"/>
          <a:lstStyle/>
          <a:p>
            <a:pPr algn="ctr" indent="0" marL="0">
              <a:buNone/>
            </a:pPr>
            <a:r>
              <a:rPr lang="en-US" sz="1100" b="1" dirty="0">
                <a:solidFill>
                  <a:srgbClr val="FFFFFF"/>
                </a:solidFill>
              </a:rPr>
              <a:t>CHANGE_INTERPRETER_VERSION</a:t>
            </a:r>
            <a:endParaRPr lang="en-US" sz="1100" dirty="0"/>
          </a:p>
        </p:txBody>
      </p:sp>
      <p:sp>
        <p:nvSpPr>
          <p:cNvPr id="30" name="Shape 28"/>
          <p:cNvSpPr/>
          <p:nvPr/>
        </p:nvSpPr>
        <p:spPr>
          <a:xfrm>
            <a:off x="9144000" y="3282696"/>
            <a:ext cx="2468880" cy="347472"/>
          </a:xfrm>
          <a:prstGeom prst="roundRect">
            <a:avLst>
              <a:gd name="adj" fmla="val 50000"/>
            </a:avLst>
          </a:prstGeom>
          <a:solidFill>
            <a:srgbClr val="0F2A33"/>
          </a:solidFill>
          <a:ln/>
        </p:spPr>
      </p:sp>
      <p:sp>
        <p:nvSpPr>
          <p:cNvPr id="31" name="Text 29"/>
          <p:cNvSpPr txBox="1"/>
          <p:nvPr/>
        </p:nvSpPr>
        <p:spPr>
          <a:xfrm>
            <a:off x="9144000" y="3282696"/>
            <a:ext cx="2468880" cy="347472"/>
          </a:xfrm>
          <a:prstGeom prst="rect">
            <a:avLst/>
          </a:prstGeom>
          <a:noFill/>
          <a:ln/>
        </p:spPr>
        <p:txBody>
          <a:bodyPr wrap="square" lIns="0" tIns="0" rIns="0" bIns="0" rtlCol="0" anchor="ctr"/>
          <a:lstStyle/>
          <a:p>
            <a:pPr algn="ctr" indent="0" marL="0">
              <a:buNone/>
            </a:pPr>
            <a:r>
              <a:rPr lang="en-US" sz="1100" b="1" dirty="0">
                <a:solidFill>
                  <a:srgbClr val="FFFFFF"/>
                </a:solidFill>
              </a:rPr>
              <a:t>SWITCH_INSTALL_MODE</a:t>
            </a:r>
            <a:endParaRPr lang="en-US" sz="1100" dirty="0"/>
          </a:p>
        </p:txBody>
      </p:sp>
      <p:sp>
        <p:nvSpPr>
          <p:cNvPr id="32" name="Shape 30"/>
          <p:cNvSpPr/>
          <p:nvPr/>
        </p:nvSpPr>
        <p:spPr>
          <a:xfrm>
            <a:off x="6583680" y="3721608"/>
            <a:ext cx="2468880" cy="347472"/>
          </a:xfrm>
          <a:prstGeom prst="roundRect">
            <a:avLst>
              <a:gd name="adj" fmla="val 50000"/>
            </a:avLst>
          </a:prstGeom>
          <a:solidFill>
            <a:srgbClr val="0F2A33"/>
          </a:solidFill>
          <a:ln/>
        </p:spPr>
      </p:sp>
      <p:sp>
        <p:nvSpPr>
          <p:cNvPr id="33" name="Text 31"/>
          <p:cNvSpPr txBox="1"/>
          <p:nvPr/>
        </p:nvSpPr>
        <p:spPr>
          <a:xfrm>
            <a:off x="6583680" y="3721608"/>
            <a:ext cx="2468880" cy="347472"/>
          </a:xfrm>
          <a:prstGeom prst="rect">
            <a:avLst/>
          </a:prstGeom>
          <a:noFill/>
          <a:ln/>
        </p:spPr>
        <p:txBody>
          <a:bodyPr wrap="square" lIns="0" tIns="0" rIns="0" bIns="0" rtlCol="0" anchor="ctr"/>
          <a:lstStyle/>
          <a:p>
            <a:pPr algn="ctr" indent="0" marL="0">
              <a:buNone/>
            </a:pPr>
            <a:r>
              <a:rPr lang="en-US" sz="1100" b="1" dirty="0">
                <a:solidFill>
                  <a:srgbClr val="FFFFFF"/>
                </a:solidFill>
              </a:rPr>
              <a:t>FIX_MOUNT_CONTRACT</a:t>
            </a:r>
            <a:endParaRPr lang="en-US" sz="1100" dirty="0"/>
          </a:p>
        </p:txBody>
      </p:sp>
      <p:sp>
        <p:nvSpPr>
          <p:cNvPr id="34" name="Shape 32"/>
          <p:cNvSpPr/>
          <p:nvPr/>
        </p:nvSpPr>
        <p:spPr>
          <a:xfrm>
            <a:off x="9144000" y="3721608"/>
            <a:ext cx="2468880" cy="347472"/>
          </a:xfrm>
          <a:prstGeom prst="roundRect">
            <a:avLst>
              <a:gd name="adj" fmla="val 50000"/>
            </a:avLst>
          </a:prstGeom>
          <a:solidFill>
            <a:srgbClr val="0F2A33"/>
          </a:solidFill>
          <a:ln/>
        </p:spPr>
      </p:sp>
      <p:sp>
        <p:nvSpPr>
          <p:cNvPr id="35" name="Text 33"/>
          <p:cNvSpPr txBox="1"/>
          <p:nvPr/>
        </p:nvSpPr>
        <p:spPr>
          <a:xfrm>
            <a:off x="9144000" y="3721608"/>
            <a:ext cx="2468880" cy="347472"/>
          </a:xfrm>
          <a:prstGeom prst="rect">
            <a:avLst/>
          </a:prstGeom>
          <a:noFill/>
          <a:ln/>
        </p:spPr>
        <p:txBody>
          <a:bodyPr wrap="square" lIns="0" tIns="0" rIns="0" bIns="0" rtlCol="0" anchor="ctr"/>
          <a:lstStyle/>
          <a:p>
            <a:pPr algn="ctr" indent="0" marL="0">
              <a:buNone/>
            </a:pPr>
            <a:r>
              <a:rPr lang="en-US" sz="1100" b="1" dirty="0">
                <a:solidFill>
                  <a:srgbClr val="FFFFFF"/>
                </a:solidFill>
              </a:rPr>
              <a:t>SET_ENTRYPOINT</a:t>
            </a:r>
            <a:endParaRPr lang="en-US" sz="1100" dirty="0"/>
          </a:p>
        </p:txBody>
      </p:sp>
      <p:sp>
        <p:nvSpPr>
          <p:cNvPr id="36" name="Shape 34"/>
          <p:cNvSpPr/>
          <p:nvPr/>
        </p:nvSpPr>
        <p:spPr>
          <a:xfrm>
            <a:off x="6583680" y="4160520"/>
            <a:ext cx="2468880" cy="347472"/>
          </a:xfrm>
          <a:prstGeom prst="roundRect">
            <a:avLst>
              <a:gd name="adj" fmla="val 50000"/>
            </a:avLst>
          </a:prstGeom>
          <a:solidFill>
            <a:srgbClr val="0F2A33"/>
          </a:solidFill>
          <a:ln/>
        </p:spPr>
      </p:sp>
      <p:sp>
        <p:nvSpPr>
          <p:cNvPr id="37" name="Text 35"/>
          <p:cNvSpPr txBox="1"/>
          <p:nvPr/>
        </p:nvSpPr>
        <p:spPr>
          <a:xfrm>
            <a:off x="6583680" y="4160520"/>
            <a:ext cx="2468880" cy="347472"/>
          </a:xfrm>
          <a:prstGeom prst="rect">
            <a:avLst/>
          </a:prstGeom>
          <a:noFill/>
          <a:ln/>
        </p:spPr>
        <p:txBody>
          <a:bodyPr wrap="square" lIns="0" tIns="0" rIns="0" bIns="0" rtlCol="0" anchor="ctr"/>
          <a:lstStyle/>
          <a:p>
            <a:pPr algn="ctr" indent="0" marL="0">
              <a:buNone/>
            </a:pPr>
            <a:r>
              <a:rPr lang="en-US" sz="1100" b="1" dirty="0">
                <a:solidFill>
                  <a:srgbClr val="FFFFFF"/>
                </a:solidFill>
              </a:rPr>
              <a:t>SET_L3_TIMEOUT</a:t>
            </a:r>
            <a:endParaRPr lang="en-US" sz="1100" dirty="0"/>
          </a:p>
        </p:txBody>
      </p:sp>
      <p:sp>
        <p:nvSpPr>
          <p:cNvPr id="38" name="Shape 36"/>
          <p:cNvSpPr/>
          <p:nvPr/>
        </p:nvSpPr>
        <p:spPr>
          <a:xfrm>
            <a:off x="9144000" y="4160520"/>
            <a:ext cx="2468880" cy="347472"/>
          </a:xfrm>
          <a:prstGeom prst="roundRect">
            <a:avLst>
              <a:gd name="adj" fmla="val 50000"/>
            </a:avLst>
          </a:prstGeom>
          <a:solidFill>
            <a:srgbClr val="0F2A33"/>
          </a:solidFill>
          <a:ln/>
        </p:spPr>
      </p:sp>
      <p:sp>
        <p:nvSpPr>
          <p:cNvPr id="39" name="Text 37"/>
          <p:cNvSpPr txBox="1"/>
          <p:nvPr/>
        </p:nvSpPr>
        <p:spPr>
          <a:xfrm>
            <a:off x="9144000" y="4160520"/>
            <a:ext cx="2468880" cy="347472"/>
          </a:xfrm>
          <a:prstGeom prst="rect">
            <a:avLst/>
          </a:prstGeom>
          <a:noFill/>
          <a:ln/>
        </p:spPr>
        <p:txBody>
          <a:bodyPr wrap="square" lIns="0" tIns="0" rIns="0" bIns="0" rtlCol="0" anchor="ctr"/>
          <a:lstStyle/>
          <a:p>
            <a:pPr algn="ctr" indent="0" marL="0">
              <a:buNone/>
            </a:pPr>
            <a:r>
              <a:rPr lang="en-US" sz="1100" b="1" dirty="0">
                <a:solidFill>
                  <a:srgbClr val="FFFFFF"/>
                </a:solidFill>
              </a:rPr>
              <a:t>ESCALATE</a:t>
            </a:r>
            <a:endParaRPr lang="en-US" sz="1100" dirty="0"/>
          </a:p>
        </p:txBody>
      </p:sp>
      <p:sp>
        <p:nvSpPr>
          <p:cNvPr id="40" name="Text 38"/>
          <p:cNvSpPr txBox="1"/>
          <p:nvPr/>
        </p:nvSpPr>
        <p:spPr>
          <a:xfrm>
            <a:off x="6583680" y="4754880"/>
            <a:ext cx="5029200" cy="1371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Forbidden triples (class, action, arg) are refused on repeat</a:t>
            </a:r>
            <a:endParaRPr lang="en-US" sz="1400" dirty="0"/>
          </a:p>
          <a:p>
            <a:pPr marL="342900" indent="-342900">
              <a:spcAft>
                <a:spcPts val="600"/>
              </a:spcAft>
              <a:buSzPct val="100000"/>
              <a:buChar char="•"/>
            </a:pPr>
            <a:r>
              <a:rPr lang="en-US" sz="1400" dirty="0">
                <a:solidFill>
                  <a:schemeClr val="tx1"/>
                </a:solidFill>
              </a:rPr>
              <a:t>Best-so-far rollback if a repair makes things worse</a:t>
            </a:r>
            <a:endParaRPr lang="en-US" sz="1400" dirty="0"/>
          </a:p>
          <a:p>
            <a:pPr marL="342900" indent="-342900">
              <a:spcAft>
                <a:spcPts val="600"/>
              </a:spcAft>
              <a:buSzPct val="100000"/>
              <a:buChar char="•"/>
            </a:pPr>
            <a:r>
              <a:rPr lang="en-US" sz="1400" dirty="0">
                <a:solidFill>
                  <a:schemeClr val="tx1"/>
                </a:solidFill>
              </a:rPr>
              <a:t>Rule table resolves most cases for free; the agent only fills gaps</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808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rgbClr val="0F2A33"/>
                </a:solidFill>
              </a:rPr>
              <a:t>Success is the repo's own example</a:t>
            </a:r>
            <a:endParaRPr lang="en-US" sz="3400" dirty="0"/>
          </a:p>
        </p:txBody>
      </p:sp>
      <p:sp>
        <p:nvSpPr>
          <p:cNvPr id="3" name="flow-0"/>
          <p:cNvSpPr/>
          <p:nvPr/>
        </p:nvSpPr>
        <p:spPr>
          <a:xfrm>
            <a:off x="548640" y="1463040"/>
            <a:ext cx="2468880" cy="1554480"/>
          </a:xfrm>
          <a:prstGeom prst="roundRect">
            <a:avLst>
              <a:gd name="adj" fmla="val 4706"/>
            </a:avLst>
          </a:prstGeom>
          <a:solidFill>
            <a:schemeClr val="bg2"/>
          </a:solidFill>
          <a:ln/>
          <a:effectLst>
            <a:outerShdw sx="100000" sy="100000" kx="0" ky="0" algn="bl" rotWithShape="0" blurRad="76200" dist="25400" dir="5400000">
              <a:srgbClr val="0F2A33">
                <a:alpha val="12000"/>
              </a:srgbClr>
            </a:outerShdw>
          </a:effectLst>
        </p:spPr>
      </p:sp>
      <p:sp>
        <p:nvSpPr>
          <p:cNvPr id="4" name="Text 2"/>
          <p:cNvSpPr txBox="1"/>
          <p:nvPr/>
        </p:nvSpPr>
        <p:spPr>
          <a:xfrm>
            <a:off x="731520" y="1600200"/>
            <a:ext cx="2103120" cy="548640"/>
          </a:xfrm>
          <a:prstGeom prst="rect">
            <a:avLst/>
          </a:prstGeom>
          <a:noFill/>
          <a:ln/>
        </p:spPr>
        <p:txBody>
          <a:bodyPr wrap="square" lIns="0" tIns="0" rIns="0" bIns="0" rtlCol="0" anchor="t"/>
          <a:lstStyle/>
          <a:p>
            <a:pPr indent="0" marL="0">
              <a:buNone/>
            </a:pPr>
            <a:r>
              <a:rPr lang="en-US" sz="1600" b="1" dirty="0">
                <a:solidFill>
                  <a:schemeClr val="accent1"/>
                </a:solidFill>
              </a:rPr>
              <a:t>Annotation entry points</a:t>
            </a:r>
            <a:endParaRPr lang="en-US" sz="1600" dirty="0"/>
          </a:p>
        </p:txBody>
      </p:sp>
      <p:sp>
        <p:nvSpPr>
          <p:cNvPr id="5" name="Text 3"/>
          <p:cNvSpPr txBox="1"/>
          <p:nvPr/>
        </p:nvSpPr>
        <p:spPr>
          <a:xfrm>
            <a:off x="731520" y="2194560"/>
            <a:ext cx="2103120" cy="777240"/>
          </a:xfrm>
          <a:prstGeom prst="rect">
            <a:avLst/>
          </a:prstGeom>
          <a:noFill/>
          <a:ln/>
        </p:spPr>
        <p:txBody>
          <a:bodyPr wrap="square" lIns="0" tIns="0" rIns="0" bIns="0" rtlCol="0" anchor="t"/>
          <a:lstStyle/>
          <a:p>
            <a:pPr indent="0" marL="0">
              <a:buNone/>
            </a:pPr>
            <a:r>
              <a:rPr lang="en-US" sz="1400" dirty="0">
                <a:solidFill>
                  <a:schemeClr val="tx1"/>
                </a:solidFill>
              </a:rPr>
              <a:t>As reviewed by a human</a:t>
            </a:r>
            <a:endParaRPr lang="en-US" sz="1400" dirty="0"/>
          </a:p>
        </p:txBody>
      </p:sp>
      <p:sp>
        <p:nvSpPr>
          <p:cNvPr id="6" name="Shape 4"/>
          <p:cNvSpPr/>
          <p:nvPr/>
        </p:nvSpPr>
        <p:spPr>
          <a:xfrm>
            <a:off x="3017520" y="2240280"/>
            <a:ext cx="365760" cy="0"/>
          </a:xfrm>
          <a:prstGeom prst="line">
            <a:avLst/>
          </a:prstGeom>
          <a:noFill/>
          <a:ln w="25400">
            <a:solidFill>
              <a:schemeClr val="accent5"/>
            </a:solidFill>
            <a:prstDash val="solid"/>
            <a:tailEnd type="triangle"/>
          </a:ln>
        </p:spPr>
      </p:sp>
      <p:sp>
        <p:nvSpPr>
          <p:cNvPr id="7" name="flow-1"/>
          <p:cNvSpPr/>
          <p:nvPr/>
        </p:nvSpPr>
        <p:spPr>
          <a:xfrm>
            <a:off x="3383280" y="1463040"/>
            <a:ext cx="2468880" cy="1554480"/>
          </a:xfrm>
          <a:prstGeom prst="roundRect">
            <a:avLst>
              <a:gd name="adj" fmla="val 4706"/>
            </a:avLst>
          </a:prstGeom>
          <a:solidFill>
            <a:schemeClr val="bg2"/>
          </a:solidFill>
          <a:ln/>
          <a:effectLst>
            <a:outerShdw sx="100000" sy="100000" kx="0" ky="0" algn="bl" rotWithShape="0" blurRad="76200" dist="25400" dir="5400000">
              <a:srgbClr val="0F2A33">
                <a:alpha val="12000"/>
              </a:srgbClr>
            </a:outerShdw>
          </a:effectLst>
        </p:spPr>
      </p:sp>
      <p:sp>
        <p:nvSpPr>
          <p:cNvPr id="8" name="Text 6"/>
          <p:cNvSpPr txBox="1"/>
          <p:nvPr/>
        </p:nvSpPr>
        <p:spPr>
          <a:xfrm>
            <a:off x="3566160" y="1600200"/>
            <a:ext cx="2103120" cy="548640"/>
          </a:xfrm>
          <a:prstGeom prst="rect">
            <a:avLst/>
          </a:prstGeom>
          <a:noFill/>
          <a:ln/>
        </p:spPr>
        <p:txBody>
          <a:bodyPr wrap="square" lIns="0" tIns="0" rIns="0" bIns="0" rtlCol="0" anchor="t"/>
          <a:lstStyle/>
          <a:p>
            <a:pPr indent="0" marL="0">
              <a:buNone/>
            </a:pPr>
            <a:r>
              <a:rPr lang="en-US" sz="1600" b="1" dirty="0">
                <a:solidFill>
                  <a:schemeClr val="accent1"/>
                </a:solidFill>
              </a:rPr>
              <a:t>Check against repo</a:t>
            </a:r>
            <a:endParaRPr lang="en-US" sz="1600" dirty="0"/>
          </a:p>
        </p:txBody>
      </p:sp>
      <p:sp>
        <p:nvSpPr>
          <p:cNvPr id="9" name="Text 7"/>
          <p:cNvSpPr txBox="1"/>
          <p:nvPr/>
        </p:nvSpPr>
        <p:spPr>
          <a:xfrm>
            <a:off x="3566160" y="2194560"/>
            <a:ext cx="2103120" cy="777240"/>
          </a:xfrm>
          <a:prstGeom prst="rect">
            <a:avLst/>
          </a:prstGeom>
          <a:noFill/>
          <a:ln/>
        </p:spPr>
        <p:txBody>
          <a:bodyPr wrap="square" lIns="0" tIns="0" rIns="0" bIns="0" rtlCol="0" anchor="t"/>
          <a:lstStyle/>
          <a:p>
            <a:pPr indent="0" marL="0">
              <a:buNone/>
            </a:pPr>
            <a:r>
              <a:rPr lang="en-US" sz="1400" dirty="0">
                <a:solidFill>
                  <a:schemeClr val="tx1"/>
                </a:solidFill>
              </a:rPr>
              <a:t>README lines, tests/, demo/, CI steps</a:t>
            </a:r>
            <a:endParaRPr lang="en-US" sz="1400" dirty="0"/>
          </a:p>
        </p:txBody>
      </p:sp>
      <p:sp>
        <p:nvSpPr>
          <p:cNvPr id="10" name="Shape 8"/>
          <p:cNvSpPr/>
          <p:nvPr/>
        </p:nvSpPr>
        <p:spPr>
          <a:xfrm>
            <a:off x="5852160" y="2240280"/>
            <a:ext cx="365760" cy="0"/>
          </a:xfrm>
          <a:prstGeom prst="line">
            <a:avLst/>
          </a:prstGeom>
          <a:noFill/>
          <a:ln w="25400">
            <a:solidFill>
              <a:schemeClr val="accent5"/>
            </a:solidFill>
            <a:prstDash val="solid"/>
            <a:tailEnd type="triangle"/>
          </a:ln>
        </p:spPr>
      </p:sp>
      <p:sp>
        <p:nvSpPr>
          <p:cNvPr id="11" name="flow-2"/>
          <p:cNvSpPr/>
          <p:nvPr/>
        </p:nvSpPr>
        <p:spPr>
          <a:xfrm>
            <a:off x="6217920" y="1463040"/>
            <a:ext cx="2468880" cy="1554480"/>
          </a:xfrm>
          <a:prstGeom prst="roundRect">
            <a:avLst>
              <a:gd name="adj" fmla="val 4706"/>
            </a:avLst>
          </a:prstGeom>
          <a:solidFill>
            <a:schemeClr val="bg2"/>
          </a:solidFill>
          <a:ln/>
          <a:effectLst>
            <a:outerShdw sx="100000" sy="100000" kx="0" ky="0" algn="bl" rotWithShape="0" blurRad="76200" dist="25400" dir="5400000">
              <a:srgbClr val="0F2A33">
                <a:alpha val="12000"/>
              </a:srgbClr>
            </a:outerShdw>
          </a:effectLst>
        </p:spPr>
      </p:sp>
      <p:sp>
        <p:nvSpPr>
          <p:cNvPr id="12" name="Text 10"/>
          <p:cNvSpPr txBox="1"/>
          <p:nvPr/>
        </p:nvSpPr>
        <p:spPr>
          <a:xfrm>
            <a:off x="6400800" y="1600200"/>
            <a:ext cx="2103120" cy="548640"/>
          </a:xfrm>
          <a:prstGeom prst="rect">
            <a:avLst/>
          </a:prstGeom>
          <a:noFill/>
          <a:ln/>
        </p:spPr>
        <p:txBody>
          <a:bodyPr wrap="square" lIns="0" tIns="0" rIns="0" bIns="0" rtlCol="0" anchor="t"/>
          <a:lstStyle/>
          <a:p>
            <a:pPr indent="0" marL="0">
              <a:buNone/>
            </a:pPr>
            <a:r>
              <a:rPr lang="en-US" sz="1600" b="1" dirty="0">
                <a:solidFill>
                  <a:schemeClr val="accent1"/>
                </a:solidFill>
              </a:rPr>
              <a:t>Choose the L3 command</a:t>
            </a:r>
            <a:endParaRPr lang="en-US" sz="1600" dirty="0"/>
          </a:p>
        </p:txBody>
      </p:sp>
      <p:sp>
        <p:nvSpPr>
          <p:cNvPr id="13" name="Text 11"/>
          <p:cNvSpPr txBox="1"/>
          <p:nvPr/>
        </p:nvSpPr>
        <p:spPr>
          <a:xfrm>
            <a:off x="6400800" y="2194560"/>
            <a:ext cx="2103120" cy="777240"/>
          </a:xfrm>
          <a:prstGeom prst="rect">
            <a:avLst/>
          </a:prstGeom>
          <a:noFill/>
          <a:ln/>
        </p:spPr>
        <p:txBody>
          <a:bodyPr wrap="square" lIns="0" tIns="0" rIns="0" bIns="0" rtlCol="0" anchor="t"/>
          <a:lstStyle/>
          <a:p>
            <a:pPr indent="0" marL="0">
              <a:buNone/>
            </a:pPr>
            <a:r>
              <a:rPr lang="en-US" sz="1400" dirty="0">
                <a:solidFill>
                  <a:schemeClr val="tx1"/>
                </a:solidFill>
              </a:rPr>
              <a:t>Annotation, else repo smoke example, else none</a:t>
            </a:r>
            <a:endParaRPr lang="en-US" sz="1400" dirty="0"/>
          </a:p>
        </p:txBody>
      </p:sp>
      <p:sp>
        <p:nvSpPr>
          <p:cNvPr id="14" name="Shape 12"/>
          <p:cNvSpPr/>
          <p:nvPr/>
        </p:nvSpPr>
        <p:spPr>
          <a:xfrm>
            <a:off x="8686800" y="2240280"/>
            <a:ext cx="365760" cy="0"/>
          </a:xfrm>
          <a:prstGeom prst="line">
            <a:avLst/>
          </a:prstGeom>
          <a:noFill/>
          <a:ln w="25400">
            <a:solidFill>
              <a:schemeClr val="accent5"/>
            </a:solidFill>
            <a:prstDash val="solid"/>
            <a:tailEnd type="triangle"/>
          </a:ln>
        </p:spPr>
      </p:sp>
      <p:sp>
        <p:nvSpPr>
          <p:cNvPr id="15" name="flow-3"/>
          <p:cNvSpPr/>
          <p:nvPr/>
        </p:nvSpPr>
        <p:spPr>
          <a:xfrm>
            <a:off x="9052560" y="1463040"/>
            <a:ext cx="2468880" cy="1554480"/>
          </a:xfrm>
          <a:prstGeom prst="roundRect">
            <a:avLst>
              <a:gd name="adj" fmla="val 4706"/>
            </a:avLst>
          </a:prstGeom>
          <a:solidFill>
            <a:schemeClr val="bg2"/>
          </a:solidFill>
          <a:ln/>
          <a:effectLst>
            <a:outerShdw sx="100000" sy="100000" kx="0" ky="0" algn="bl" rotWithShape="0" blurRad="76200" dist="25400" dir="5400000">
              <a:srgbClr val="0F2A33">
                <a:alpha val="12000"/>
              </a:srgbClr>
            </a:outerShdw>
          </a:effectLst>
        </p:spPr>
      </p:sp>
      <p:sp>
        <p:nvSpPr>
          <p:cNvPr id="16" name="Text 14"/>
          <p:cNvSpPr txBox="1"/>
          <p:nvPr/>
        </p:nvSpPr>
        <p:spPr>
          <a:xfrm>
            <a:off x="9235440" y="1600200"/>
            <a:ext cx="2103120" cy="548640"/>
          </a:xfrm>
          <a:prstGeom prst="rect">
            <a:avLst/>
          </a:prstGeom>
          <a:noFill/>
          <a:ln/>
        </p:spPr>
        <p:txBody>
          <a:bodyPr wrap="square" lIns="0" tIns="0" rIns="0" bIns="0" rtlCol="0" anchor="t"/>
          <a:lstStyle/>
          <a:p>
            <a:pPr indent="0" marL="0">
              <a:buNone/>
            </a:pPr>
            <a:r>
              <a:rPr lang="en-US" sz="1600" b="1" dirty="0">
                <a:solidFill>
                  <a:schemeClr val="accent1"/>
                </a:solidFill>
              </a:rPr>
              <a:t>Ladder judges it</a:t>
            </a:r>
            <a:endParaRPr lang="en-US" sz="1600" dirty="0"/>
          </a:p>
        </p:txBody>
      </p:sp>
      <p:sp>
        <p:nvSpPr>
          <p:cNvPr id="17" name="Text 15"/>
          <p:cNvSpPr txBox="1"/>
          <p:nvPr/>
        </p:nvSpPr>
        <p:spPr>
          <a:xfrm>
            <a:off x="9235440" y="2194560"/>
            <a:ext cx="2103120" cy="777240"/>
          </a:xfrm>
          <a:prstGeom prst="rect">
            <a:avLst/>
          </a:prstGeom>
          <a:noFill/>
          <a:ln/>
        </p:spPr>
        <p:txBody>
          <a:bodyPr wrap="square" lIns="0" tIns="0" rIns="0" bIns="0" rtlCol="0" anchor="t"/>
          <a:lstStyle/>
          <a:p>
            <a:pPr indent="0" marL="0">
              <a:buNone/>
            </a:pPr>
            <a:r>
              <a:rPr lang="en-US" sz="1400" dirty="0">
                <a:solidFill>
                  <a:schemeClr val="tx1"/>
                </a:solidFill>
              </a:rPr>
              <a:t>Exit 0, in time, outputs written</a:t>
            </a:r>
            <a:endParaRPr lang="en-US" sz="1400" dirty="0"/>
          </a:p>
        </p:txBody>
      </p:sp>
      <p:sp>
        <p:nvSpPr>
          <p:cNvPr id="18" name="proposal-card"/>
          <p:cNvSpPr/>
          <p:nvPr/>
        </p:nvSpPr>
        <p:spPr>
          <a:xfrm>
            <a:off x="548640" y="3383280"/>
            <a:ext cx="5486400" cy="2651760"/>
          </a:xfrm>
          <a:prstGeom prst="roundRect">
            <a:avLst>
              <a:gd name="adj" fmla="val 2759"/>
            </a:avLst>
          </a:prstGeom>
          <a:solidFill>
            <a:schemeClr val="bg2"/>
          </a:solidFill>
          <a:ln/>
          <a:effectLst>
            <a:outerShdw sx="100000" sy="100000" kx="0" ky="0" algn="bl" rotWithShape="0" blurRad="76200" dist="25400" dir="5400000">
              <a:srgbClr val="0F2A33">
                <a:alpha val="12000"/>
              </a:srgbClr>
            </a:outerShdw>
          </a:effectLst>
        </p:spPr>
      </p:sp>
      <p:sp>
        <p:nvSpPr>
          <p:cNvPr id="19" name="icon-proposal-bg"/>
          <p:cNvSpPr/>
          <p:nvPr/>
        </p:nvSpPr>
        <p:spPr>
          <a:xfrm>
            <a:off x="822960" y="3611880"/>
            <a:ext cx="548640" cy="548640"/>
          </a:xfrm>
          <a:prstGeom prst="ellipse">
            <a:avLst/>
          </a:prstGeom>
          <a:solidFill>
            <a:schemeClr val="accent1"/>
          </a:solidFill>
          <a:ln/>
        </p:spPr>
      </p:sp>
      <p:pic>
        <p:nvPicPr>
          <p:cNvPr id="20" name="icon-proposal" descr="icon-proposal">    </p:cNvPr>
          <p:cNvPicPr>
            <a:picLocks noChangeAspect="1"/>
          </p:cNvPicPr>
          <p:nvPr/>
        </p:nvPicPr>
        <p:blipFill>
          <a:blip r:embed="rId1"/>
          <a:stretch>
            <a:fillRect/>
          </a:stretch>
        </p:blipFill>
        <p:spPr>
          <a:xfrm>
            <a:off x="965606" y="3754526"/>
            <a:ext cx="263347" cy="263347"/>
          </a:xfrm>
          <a:prstGeom prst="rect">
            <a:avLst/>
          </a:prstGeom>
        </p:spPr>
      </p:pic>
      <p:sp>
        <p:nvSpPr>
          <p:cNvPr id="21" name="Text 18"/>
          <p:cNvSpPr txBox="1"/>
          <p:nvPr/>
        </p:nvSpPr>
        <p:spPr>
          <a:xfrm>
            <a:off x="1554480" y="3703320"/>
            <a:ext cx="4206240" cy="365760"/>
          </a:xfrm>
          <a:prstGeom prst="rect">
            <a:avLst/>
          </a:prstGeom>
          <a:noFill/>
          <a:ln/>
        </p:spPr>
        <p:txBody>
          <a:bodyPr wrap="square" lIns="0" tIns="0" rIns="0" bIns="0" rtlCol="0" anchor="t"/>
          <a:lstStyle/>
          <a:p>
            <a:pPr indent="0" marL="0">
              <a:buNone/>
            </a:pPr>
            <a:r>
              <a:rPr lang="en-US" sz="1800" b="1" dirty="0">
                <a:solidFill>
                  <a:schemeClr val="tx1"/>
                </a:solidFill>
              </a:rPr>
              <a:t>Corrections are proposals</a:t>
            </a:r>
            <a:endParaRPr lang="en-US" sz="1800" dirty="0"/>
          </a:p>
        </p:txBody>
      </p:sp>
      <p:sp>
        <p:nvSpPr>
          <p:cNvPr id="22" name="Text 19"/>
          <p:cNvSpPr txBox="1"/>
          <p:nvPr/>
        </p:nvSpPr>
        <p:spPr>
          <a:xfrm>
            <a:off x="822960" y="4343400"/>
            <a:ext cx="5029200" cy="16459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The agent may SET_ENTRYPOINT to a grounded example, max twice per job</a:t>
            </a:r>
            <a:endParaRPr lang="en-US" sz="1400" dirty="0"/>
          </a:p>
          <a:p>
            <a:pPr marL="342900" indent="-342900">
              <a:spcAft>
                <a:spcPts val="600"/>
              </a:spcAft>
              <a:buSzPct val="100000"/>
              <a:buChar char="•"/>
            </a:pPr>
            <a:r>
              <a:rPr lang="en-US" sz="1400" dirty="0">
                <a:solidFill>
                  <a:schemeClr val="tx1"/>
                </a:solidFill>
              </a:rPr>
              <a:t>Invented entry points are refused</a:t>
            </a:r>
            <a:endParaRPr lang="en-US" sz="1400" dirty="0"/>
          </a:p>
          <a:p>
            <a:pPr marL="342900" indent="-342900">
              <a:spcAft>
                <a:spcPts val="600"/>
              </a:spcAft>
              <a:buSzPct val="100000"/>
              <a:buChar char="•"/>
            </a:pPr>
            <a:r>
              <a:rPr lang="en-US" sz="1400" dirty="0">
                <a:solidFill>
                  <a:schemeClr val="tx1"/>
                </a:solidFill>
              </a:rPr>
              <a:t>Output is annotation-patch.yaml; the annotation is never edited</a:t>
            </a:r>
            <a:endParaRPr lang="en-US" sz="1400" dirty="0"/>
          </a:p>
        </p:txBody>
      </p:sp>
      <p:sp>
        <p:nvSpPr>
          <p:cNvPr id="23" name="outcome-card"/>
          <p:cNvSpPr/>
          <p:nvPr/>
        </p:nvSpPr>
        <p:spPr>
          <a:xfrm>
            <a:off x="6309360" y="3383280"/>
            <a:ext cx="5303520" cy="2651760"/>
          </a:xfrm>
          <a:prstGeom prst="roundRect">
            <a:avLst>
              <a:gd name="adj" fmla="val 2759"/>
            </a:avLst>
          </a:prstGeom>
          <a:solidFill>
            <a:schemeClr val="bg2"/>
          </a:solidFill>
          <a:ln/>
          <a:effectLst>
            <a:outerShdw sx="100000" sy="100000" kx="0" ky="0" algn="bl" rotWithShape="0" blurRad="76200" dist="25400" dir="5400000">
              <a:srgbClr val="0F2A33">
                <a:alpha val="12000"/>
              </a:srgbClr>
            </a:outerShdw>
          </a:effectLst>
        </p:spPr>
      </p:sp>
      <p:sp>
        <p:nvSpPr>
          <p:cNvPr id="24" name="Text 21"/>
          <p:cNvSpPr txBox="1"/>
          <p:nvPr/>
        </p:nvSpPr>
        <p:spPr>
          <a:xfrm>
            <a:off x="6583680" y="3520440"/>
            <a:ext cx="4846320" cy="548640"/>
          </a:xfrm>
          <a:prstGeom prst="rect">
            <a:avLst/>
          </a:prstGeom>
          <a:noFill/>
          <a:ln/>
        </p:spPr>
        <p:txBody>
          <a:bodyPr wrap="square" lIns="0" tIns="0" rIns="0" bIns="0" rtlCol="0" anchor="t"/>
          <a:lstStyle/>
          <a:p>
            <a:pPr indent="0" marL="0">
              <a:buNone/>
            </a:pPr>
            <a:r>
              <a:rPr lang="en-US" sz="1600" b="1" dirty="0">
                <a:solidFill>
                  <a:schemeClr val="tx1"/>
                </a:solidFill>
              </a:rPr>
              <a:t>Outcome of each correction, assigned by the ladder</a:t>
            </a:r>
            <a:endParaRPr lang="en-US" sz="1600" dirty="0"/>
          </a:p>
        </p:txBody>
      </p:sp>
      <p:sp>
        <p:nvSpPr>
          <p:cNvPr id="25" name="Shape 22"/>
          <p:cNvSpPr/>
          <p:nvPr/>
        </p:nvSpPr>
        <p:spPr>
          <a:xfrm>
            <a:off x="6583680" y="4206240"/>
            <a:ext cx="1280160" cy="329184"/>
          </a:xfrm>
          <a:prstGeom prst="roundRect">
            <a:avLst>
              <a:gd name="adj" fmla="val 50000"/>
            </a:avLst>
          </a:prstGeom>
          <a:solidFill>
            <a:schemeClr val="accent6"/>
          </a:solidFill>
          <a:ln/>
        </p:spPr>
      </p:sp>
      <p:sp>
        <p:nvSpPr>
          <p:cNvPr id="26" name="Text 23"/>
          <p:cNvSpPr txBox="1"/>
          <p:nvPr/>
        </p:nvSpPr>
        <p:spPr>
          <a:xfrm>
            <a:off x="6583680" y="4206240"/>
            <a:ext cx="1280160" cy="329184"/>
          </a:xfrm>
          <a:prstGeom prst="rect">
            <a:avLst/>
          </a:prstGeom>
          <a:noFill/>
          <a:ln/>
        </p:spPr>
        <p:txBody>
          <a:bodyPr wrap="square" lIns="0" tIns="0" rIns="0" bIns="0" rtlCol="0" anchor="ctr"/>
          <a:lstStyle/>
          <a:p>
            <a:pPr algn="ctr" indent="0" marL="0">
              <a:buNone/>
            </a:pPr>
            <a:r>
              <a:rPr lang="en-US" sz="1200" b="1" dirty="0">
                <a:solidFill>
                  <a:srgbClr val="FFFFFF"/>
                </a:solidFill>
              </a:rPr>
              <a:t>verified</a:t>
            </a:r>
            <a:endParaRPr lang="en-US" sz="1200" dirty="0"/>
          </a:p>
        </p:txBody>
      </p:sp>
      <p:sp>
        <p:nvSpPr>
          <p:cNvPr id="27" name="Text 24"/>
          <p:cNvSpPr txBox="1"/>
          <p:nvPr/>
        </p:nvSpPr>
        <p:spPr>
          <a:xfrm>
            <a:off x="8046720" y="4206240"/>
            <a:ext cx="3383280" cy="329184"/>
          </a:xfrm>
          <a:prstGeom prst="rect">
            <a:avLst/>
          </a:prstGeom>
          <a:noFill/>
          <a:ln/>
        </p:spPr>
        <p:txBody>
          <a:bodyPr wrap="square" lIns="0" tIns="0" rIns="0" bIns="0" rtlCol="0" anchor="ctr"/>
          <a:lstStyle/>
          <a:p>
            <a:pPr indent="0" marL="0">
              <a:buNone/>
            </a:pPr>
            <a:r>
              <a:rPr lang="en-US" sz="1400" dirty="0">
                <a:solidFill>
                  <a:schemeClr val="tx1"/>
                </a:solidFill>
              </a:rPr>
              <a:t>L3 passed</a:t>
            </a:r>
            <a:endParaRPr lang="en-US" sz="1400" dirty="0"/>
          </a:p>
        </p:txBody>
      </p:sp>
      <p:sp>
        <p:nvSpPr>
          <p:cNvPr id="28" name="Shape 25"/>
          <p:cNvSpPr/>
          <p:nvPr/>
        </p:nvSpPr>
        <p:spPr>
          <a:xfrm>
            <a:off x="6583680" y="4663440"/>
            <a:ext cx="1280160" cy="329184"/>
          </a:xfrm>
          <a:prstGeom prst="roundRect">
            <a:avLst>
              <a:gd name="adj" fmla="val 50000"/>
            </a:avLst>
          </a:prstGeom>
          <a:solidFill>
            <a:schemeClr val="accent4"/>
          </a:solidFill>
          <a:ln/>
        </p:spPr>
      </p:sp>
      <p:sp>
        <p:nvSpPr>
          <p:cNvPr id="29" name="Text 26"/>
          <p:cNvSpPr txBox="1"/>
          <p:nvPr/>
        </p:nvSpPr>
        <p:spPr>
          <a:xfrm>
            <a:off x="6583680" y="4663440"/>
            <a:ext cx="1280160" cy="329184"/>
          </a:xfrm>
          <a:prstGeom prst="rect">
            <a:avLst/>
          </a:prstGeom>
          <a:noFill/>
          <a:ln/>
        </p:spPr>
        <p:txBody>
          <a:bodyPr wrap="square" lIns="0" tIns="0" rIns="0" bIns="0" rtlCol="0" anchor="ctr"/>
          <a:lstStyle/>
          <a:p>
            <a:pPr algn="ctr" indent="0" marL="0">
              <a:buNone/>
            </a:pPr>
            <a:r>
              <a:rPr lang="en-US" sz="1200" b="1" dirty="0">
                <a:solidFill>
                  <a:srgbClr val="FFFFFF"/>
                </a:solidFill>
              </a:rPr>
              <a:t>helped</a:t>
            </a:r>
            <a:endParaRPr lang="en-US" sz="1200" dirty="0"/>
          </a:p>
        </p:txBody>
      </p:sp>
      <p:sp>
        <p:nvSpPr>
          <p:cNvPr id="30" name="Text 27"/>
          <p:cNvSpPr txBox="1"/>
          <p:nvPr/>
        </p:nvSpPr>
        <p:spPr>
          <a:xfrm>
            <a:off x="8046720" y="4663440"/>
            <a:ext cx="3383280" cy="329184"/>
          </a:xfrm>
          <a:prstGeom prst="rect">
            <a:avLst/>
          </a:prstGeom>
          <a:noFill/>
          <a:ln/>
        </p:spPr>
        <p:txBody>
          <a:bodyPr wrap="square" lIns="0" tIns="0" rIns="0" bIns="0" rtlCol="0" anchor="ctr"/>
          <a:lstStyle/>
          <a:p>
            <a:pPr indent="0" marL="0">
              <a:buNone/>
            </a:pPr>
            <a:r>
              <a:rPr lang="en-US" sz="1400" dirty="0">
                <a:solidFill>
                  <a:schemeClr val="tx1"/>
                </a:solidFill>
              </a:rPr>
              <a:t>got past L2</a:t>
            </a:r>
            <a:endParaRPr lang="en-US" sz="1400" dirty="0"/>
          </a:p>
        </p:txBody>
      </p:sp>
      <p:sp>
        <p:nvSpPr>
          <p:cNvPr id="31" name="Shape 28"/>
          <p:cNvSpPr/>
          <p:nvPr/>
        </p:nvSpPr>
        <p:spPr>
          <a:xfrm>
            <a:off x="6583680" y="5120640"/>
            <a:ext cx="1280160" cy="329184"/>
          </a:xfrm>
          <a:prstGeom prst="roundRect">
            <a:avLst>
              <a:gd name="adj" fmla="val 50000"/>
            </a:avLst>
          </a:prstGeom>
          <a:solidFill>
            <a:schemeClr val="accent3"/>
          </a:solidFill>
          <a:ln/>
        </p:spPr>
      </p:sp>
      <p:sp>
        <p:nvSpPr>
          <p:cNvPr id="32" name="Text 29"/>
          <p:cNvSpPr txBox="1"/>
          <p:nvPr/>
        </p:nvSpPr>
        <p:spPr>
          <a:xfrm>
            <a:off x="6583680" y="5120640"/>
            <a:ext cx="1280160" cy="329184"/>
          </a:xfrm>
          <a:prstGeom prst="rect">
            <a:avLst/>
          </a:prstGeom>
          <a:noFill/>
          <a:ln/>
        </p:spPr>
        <p:txBody>
          <a:bodyPr wrap="square" lIns="0" tIns="0" rIns="0" bIns="0" rtlCol="0" anchor="ctr"/>
          <a:lstStyle/>
          <a:p>
            <a:pPr algn="ctr" indent="0" marL="0">
              <a:buNone/>
            </a:pPr>
            <a:r>
              <a:rPr lang="en-US" sz="1200" b="1" dirty="0">
                <a:solidFill>
                  <a:srgbClr val="FFFFFF"/>
                </a:solidFill>
              </a:rPr>
              <a:t>rejected</a:t>
            </a:r>
            <a:endParaRPr lang="en-US" sz="1200" dirty="0"/>
          </a:p>
        </p:txBody>
      </p:sp>
      <p:sp>
        <p:nvSpPr>
          <p:cNvPr id="33" name="Text 30"/>
          <p:cNvSpPr txBox="1"/>
          <p:nvPr/>
        </p:nvSpPr>
        <p:spPr>
          <a:xfrm>
            <a:off x="8046720" y="5120640"/>
            <a:ext cx="3383280" cy="329184"/>
          </a:xfrm>
          <a:prstGeom prst="rect">
            <a:avLst/>
          </a:prstGeom>
          <a:noFill/>
          <a:ln/>
        </p:spPr>
        <p:txBody>
          <a:bodyPr wrap="square" lIns="0" tIns="0" rIns="0" bIns="0" rtlCol="0" anchor="ctr"/>
          <a:lstStyle/>
          <a:p>
            <a:pPr indent="0" marL="0">
              <a:buNone/>
            </a:pPr>
            <a:r>
              <a:rPr lang="en-US" sz="1400" dirty="0">
                <a:solidFill>
                  <a:schemeClr val="tx1"/>
                </a:solidFill>
              </a:rPr>
              <a:t>entry itself missing</a:t>
            </a:r>
            <a:endParaRPr lang="en-US" sz="1400" dirty="0"/>
          </a:p>
        </p:txBody>
      </p:sp>
      <p:sp>
        <p:nvSpPr>
          <p:cNvPr id="34" name="Shape 31"/>
          <p:cNvSpPr/>
          <p:nvPr/>
        </p:nvSpPr>
        <p:spPr>
          <a:xfrm>
            <a:off x="6583680" y="5577840"/>
            <a:ext cx="1280160" cy="329184"/>
          </a:xfrm>
          <a:prstGeom prst="roundRect">
            <a:avLst>
              <a:gd name="adj" fmla="val 50000"/>
            </a:avLst>
          </a:prstGeom>
          <a:solidFill>
            <a:schemeClr val="accent5"/>
          </a:solidFill>
          <a:ln/>
        </p:spPr>
      </p:sp>
      <p:sp>
        <p:nvSpPr>
          <p:cNvPr id="35" name="Text 32"/>
          <p:cNvSpPr txBox="1"/>
          <p:nvPr/>
        </p:nvSpPr>
        <p:spPr>
          <a:xfrm>
            <a:off x="6583680" y="5577840"/>
            <a:ext cx="1280160" cy="329184"/>
          </a:xfrm>
          <a:prstGeom prst="rect">
            <a:avLst/>
          </a:prstGeom>
          <a:noFill/>
          <a:ln/>
        </p:spPr>
        <p:txBody>
          <a:bodyPr wrap="square" lIns="0" tIns="0" rIns="0" bIns="0" rtlCol="0" anchor="ctr"/>
          <a:lstStyle/>
          <a:p>
            <a:pPr algn="ctr" indent="0" marL="0">
              <a:buNone/>
            </a:pPr>
            <a:r>
              <a:rPr lang="en-US" sz="1200" b="1" dirty="0">
                <a:solidFill>
                  <a:srgbClr val="FFFFFF"/>
                </a:solidFill>
              </a:rPr>
              <a:t>unverified</a:t>
            </a:r>
            <a:endParaRPr lang="en-US" sz="1200" dirty="0"/>
          </a:p>
        </p:txBody>
      </p:sp>
      <p:sp>
        <p:nvSpPr>
          <p:cNvPr id="36" name="Text 33"/>
          <p:cNvSpPr txBox="1"/>
          <p:nvPr/>
        </p:nvSpPr>
        <p:spPr>
          <a:xfrm>
            <a:off x="8046720" y="5577840"/>
            <a:ext cx="3383280" cy="329184"/>
          </a:xfrm>
          <a:prstGeom prst="rect">
            <a:avLst/>
          </a:prstGeom>
          <a:noFill/>
          <a:ln/>
        </p:spPr>
        <p:txBody>
          <a:bodyPr wrap="square" lIns="0" tIns="0" rIns="0" bIns="0" rtlCol="0" anchor="ctr"/>
          <a:lstStyle/>
          <a:p>
            <a:pPr indent="0" marL="0">
              <a:buNone/>
            </a:pPr>
            <a:r>
              <a:rPr lang="en-US" sz="1400" dirty="0">
                <a:solidFill>
                  <a:schemeClr val="tx1"/>
                </a:solidFill>
              </a:rPr>
              <a:t>no rung exercised it</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808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rgbClr val="0F2A33"/>
                </a:solidFill>
              </a:rPr>
              <a:t>What makes “verified” mean something</a:t>
            </a:r>
            <a:endParaRPr lang="en-US" sz="3400" dirty="0"/>
          </a:p>
        </p:txBody>
      </p:sp>
      <p:sp>
        <p:nvSpPr>
          <p:cNvPr id="3" name="guard-0"/>
          <p:cNvSpPr/>
          <p:nvPr/>
        </p:nvSpPr>
        <p:spPr>
          <a:xfrm>
            <a:off x="548640" y="1463040"/>
            <a:ext cx="3566160" cy="2194560"/>
          </a:xfrm>
          <a:prstGeom prst="roundRect">
            <a:avLst>
              <a:gd name="adj" fmla="val 3333"/>
            </a:avLst>
          </a:prstGeom>
          <a:solidFill>
            <a:schemeClr val="bg2"/>
          </a:solidFill>
          <a:ln/>
          <a:effectLst>
            <a:outerShdw sx="100000" sy="100000" kx="0" ky="0" algn="bl" rotWithShape="0" blurRad="76200" dist="25400" dir="5400000">
              <a:srgbClr val="0F2A33">
                <a:alpha val="12000"/>
              </a:srgbClr>
            </a:outerShdw>
          </a:effectLst>
        </p:spPr>
      </p:sp>
      <p:sp>
        <p:nvSpPr>
          <p:cNvPr id="4" name="icon-guard-0-bg"/>
          <p:cNvSpPr/>
          <p:nvPr/>
        </p:nvSpPr>
        <p:spPr>
          <a:xfrm>
            <a:off x="777240" y="1645920"/>
            <a:ext cx="548640" cy="548640"/>
          </a:xfrm>
          <a:prstGeom prst="ellipse">
            <a:avLst/>
          </a:prstGeom>
          <a:solidFill>
            <a:schemeClr val="accent1"/>
          </a:solidFill>
          <a:ln/>
        </p:spPr>
      </p:sp>
      <p:pic>
        <p:nvPicPr>
          <p:cNvPr id="5" name="icon-guard-0" descr="icon-guard-0">    </p:cNvPr>
          <p:cNvPicPr>
            <a:picLocks noChangeAspect="1"/>
          </p:cNvPicPr>
          <p:nvPr/>
        </p:nvPicPr>
        <p:blipFill>
          <a:blip r:embed="rId1"/>
          <a:stretch>
            <a:fillRect/>
          </a:stretch>
        </p:blipFill>
        <p:spPr>
          <a:xfrm>
            <a:off x="919886" y="1788566"/>
            <a:ext cx="263347" cy="263347"/>
          </a:xfrm>
          <a:prstGeom prst="rect">
            <a:avLst/>
          </a:prstGeom>
        </p:spPr>
      </p:pic>
      <p:sp>
        <p:nvSpPr>
          <p:cNvPr id="6" name="Text 3"/>
          <p:cNvSpPr txBox="1"/>
          <p:nvPr/>
        </p:nvSpPr>
        <p:spPr>
          <a:xfrm>
            <a:off x="1463040" y="1645920"/>
            <a:ext cx="2514600" cy="548640"/>
          </a:xfrm>
          <a:prstGeom prst="rect">
            <a:avLst/>
          </a:prstGeom>
          <a:noFill/>
          <a:ln/>
        </p:spPr>
        <p:txBody>
          <a:bodyPr wrap="square" lIns="0" tIns="0" rIns="0" bIns="0" rtlCol="0" anchor="ctr"/>
          <a:lstStyle/>
          <a:p>
            <a:pPr indent="0" marL="0">
              <a:buNone/>
            </a:pPr>
            <a:r>
              <a:rPr lang="en-US" sz="1600" b="1" dirty="0">
                <a:solidFill>
                  <a:schemeClr val="tx1"/>
                </a:solidFill>
              </a:rPr>
              <a:t>Digest-pinned everything</a:t>
            </a:r>
            <a:endParaRPr lang="en-US" sz="1600" dirty="0"/>
          </a:p>
        </p:txBody>
      </p:sp>
      <p:sp>
        <p:nvSpPr>
          <p:cNvPr id="7" name="Text 4"/>
          <p:cNvSpPr txBox="1"/>
          <p:nvPr/>
        </p:nvSpPr>
        <p:spPr>
          <a:xfrm>
            <a:off x="777240" y="2331720"/>
            <a:ext cx="3154680" cy="1280160"/>
          </a:xfrm>
          <a:prstGeom prst="rect">
            <a:avLst/>
          </a:prstGeom>
          <a:noFill/>
          <a:ln/>
        </p:spPr>
        <p:txBody>
          <a:bodyPr wrap="square" lIns="0" tIns="0" rIns="0" bIns="0" rtlCol="0" anchor="t"/>
          <a:lstStyle/>
          <a:p>
            <a:pPr indent="0" marL="0">
              <a:buNone/>
            </a:pPr>
            <a:r>
              <a:rPr lang="en-US" sz="1400" dirty="0">
                <a:solidFill>
                  <a:schemeClr val="tx1"/>
                </a:solidFill>
              </a:rPr>
              <a:t>Base images and the Kaniko builder are pinned. A bare tag never reaches a Dockerfile; failing to resolve a digest fails the job.</a:t>
            </a:r>
            <a:endParaRPr lang="en-US" sz="1400" dirty="0"/>
          </a:p>
        </p:txBody>
      </p:sp>
      <p:sp>
        <p:nvSpPr>
          <p:cNvPr id="8" name="guard-1"/>
          <p:cNvSpPr/>
          <p:nvPr/>
        </p:nvSpPr>
        <p:spPr>
          <a:xfrm>
            <a:off x="4297680" y="1463040"/>
            <a:ext cx="3566160" cy="2194560"/>
          </a:xfrm>
          <a:prstGeom prst="roundRect">
            <a:avLst>
              <a:gd name="adj" fmla="val 3333"/>
            </a:avLst>
          </a:prstGeom>
          <a:solidFill>
            <a:schemeClr val="bg2"/>
          </a:solidFill>
          <a:ln/>
          <a:effectLst>
            <a:outerShdw sx="100000" sy="100000" kx="0" ky="0" algn="bl" rotWithShape="0" blurRad="76200" dist="25400" dir="5400000">
              <a:srgbClr val="0F2A33">
                <a:alpha val="12000"/>
              </a:srgbClr>
            </a:outerShdw>
          </a:effectLst>
        </p:spPr>
      </p:sp>
      <p:sp>
        <p:nvSpPr>
          <p:cNvPr id="9" name="icon-guard-1-bg"/>
          <p:cNvSpPr/>
          <p:nvPr/>
        </p:nvSpPr>
        <p:spPr>
          <a:xfrm>
            <a:off x="4526280" y="1645920"/>
            <a:ext cx="548640" cy="548640"/>
          </a:xfrm>
          <a:prstGeom prst="ellipse">
            <a:avLst/>
          </a:prstGeom>
          <a:solidFill>
            <a:schemeClr val="accent1"/>
          </a:solidFill>
          <a:ln/>
        </p:spPr>
      </p:sp>
      <p:pic>
        <p:nvPicPr>
          <p:cNvPr id="10" name="icon-guard-1" descr="icon-guard-1">    </p:cNvPr>
          <p:cNvPicPr>
            <a:picLocks noChangeAspect="1"/>
          </p:cNvPicPr>
          <p:nvPr/>
        </p:nvPicPr>
        <p:blipFill>
          <a:blip r:embed="rId2"/>
          <a:stretch>
            <a:fillRect/>
          </a:stretch>
        </p:blipFill>
        <p:spPr>
          <a:xfrm>
            <a:off x="4668926" y="1788566"/>
            <a:ext cx="263347" cy="263347"/>
          </a:xfrm>
          <a:prstGeom prst="rect">
            <a:avLst/>
          </a:prstGeom>
        </p:spPr>
      </p:pic>
      <p:sp>
        <p:nvSpPr>
          <p:cNvPr id="11" name="Text 7"/>
          <p:cNvSpPr txBox="1"/>
          <p:nvPr/>
        </p:nvSpPr>
        <p:spPr>
          <a:xfrm>
            <a:off x="5212080" y="1645920"/>
            <a:ext cx="2514600" cy="548640"/>
          </a:xfrm>
          <a:prstGeom prst="rect">
            <a:avLst/>
          </a:prstGeom>
          <a:noFill/>
          <a:ln/>
        </p:spPr>
        <p:txBody>
          <a:bodyPr wrap="square" lIns="0" tIns="0" rIns="0" bIns="0" rtlCol="0" anchor="ctr"/>
          <a:lstStyle/>
          <a:p>
            <a:pPr indent="0" marL="0">
              <a:buNone/>
            </a:pPr>
            <a:r>
              <a:rPr lang="en-US" sz="1600" b="1" dirty="0">
                <a:solidFill>
                  <a:schemeClr val="tx1"/>
                </a:solidFill>
              </a:rPr>
              <a:t>Image is a dependency stack</a:t>
            </a:r>
            <a:endParaRPr lang="en-US" sz="1600" dirty="0"/>
          </a:p>
        </p:txBody>
      </p:sp>
      <p:sp>
        <p:nvSpPr>
          <p:cNvPr id="12" name="Text 8"/>
          <p:cNvSpPr txBox="1"/>
          <p:nvPr/>
        </p:nvSpPr>
        <p:spPr>
          <a:xfrm>
            <a:off x="4526280" y="2331720"/>
            <a:ext cx="3154680" cy="1280160"/>
          </a:xfrm>
          <a:prstGeom prst="rect">
            <a:avLst/>
          </a:prstGeom>
          <a:noFill/>
          <a:ln/>
        </p:spPr>
        <p:txBody>
          <a:bodyPr wrap="square" lIns="0" tIns="0" rIns="0" bIns="0" rtlCol="0" anchor="t"/>
          <a:lstStyle/>
          <a:p>
            <a:pPr indent="0" marL="0">
              <a:buNone/>
            </a:pPr>
            <a:r>
              <a:rPr lang="en-US" sz="1400" dirty="0">
                <a:solidFill>
                  <a:schemeClr val="tx1"/>
                </a:solidFill>
              </a:rPr>
              <a:t>Model code is mounted at run time, no ENTRYPOINT baked in. Approval unit is (image digest, code revision).</a:t>
            </a:r>
            <a:endParaRPr lang="en-US" sz="1400" dirty="0"/>
          </a:p>
        </p:txBody>
      </p:sp>
      <p:sp>
        <p:nvSpPr>
          <p:cNvPr id="13" name="guard-2"/>
          <p:cNvSpPr/>
          <p:nvPr/>
        </p:nvSpPr>
        <p:spPr>
          <a:xfrm>
            <a:off x="8046720" y="1463040"/>
            <a:ext cx="3566160" cy="2194560"/>
          </a:xfrm>
          <a:prstGeom prst="roundRect">
            <a:avLst>
              <a:gd name="adj" fmla="val 3333"/>
            </a:avLst>
          </a:prstGeom>
          <a:solidFill>
            <a:schemeClr val="bg2"/>
          </a:solidFill>
          <a:ln/>
          <a:effectLst>
            <a:outerShdw sx="100000" sy="100000" kx="0" ky="0" algn="bl" rotWithShape="0" blurRad="76200" dist="25400" dir="5400000">
              <a:srgbClr val="0F2A33">
                <a:alpha val="12000"/>
              </a:srgbClr>
            </a:outerShdw>
          </a:effectLst>
        </p:spPr>
      </p:sp>
      <p:sp>
        <p:nvSpPr>
          <p:cNvPr id="14" name="icon-guard-2-bg"/>
          <p:cNvSpPr/>
          <p:nvPr/>
        </p:nvSpPr>
        <p:spPr>
          <a:xfrm>
            <a:off x="8275320" y="1645920"/>
            <a:ext cx="548640" cy="548640"/>
          </a:xfrm>
          <a:prstGeom prst="ellipse">
            <a:avLst/>
          </a:prstGeom>
          <a:solidFill>
            <a:schemeClr val="accent1"/>
          </a:solidFill>
          <a:ln/>
        </p:spPr>
      </p:sp>
      <p:pic>
        <p:nvPicPr>
          <p:cNvPr id="15" name="icon-guard-2" descr="icon-guard-2">    </p:cNvPr>
          <p:cNvPicPr>
            <a:picLocks noChangeAspect="1"/>
          </p:cNvPicPr>
          <p:nvPr/>
        </p:nvPicPr>
        <p:blipFill>
          <a:blip r:embed="rId3"/>
          <a:stretch>
            <a:fillRect/>
          </a:stretch>
        </p:blipFill>
        <p:spPr>
          <a:xfrm>
            <a:off x="8417966" y="1788566"/>
            <a:ext cx="263347" cy="263347"/>
          </a:xfrm>
          <a:prstGeom prst="rect">
            <a:avLst/>
          </a:prstGeom>
        </p:spPr>
      </p:pic>
      <p:sp>
        <p:nvSpPr>
          <p:cNvPr id="16" name="Text 11"/>
          <p:cNvSpPr txBox="1"/>
          <p:nvPr/>
        </p:nvSpPr>
        <p:spPr>
          <a:xfrm>
            <a:off x="8961120" y="1645920"/>
            <a:ext cx="2514600" cy="548640"/>
          </a:xfrm>
          <a:prstGeom prst="rect">
            <a:avLst/>
          </a:prstGeom>
          <a:noFill/>
          <a:ln/>
        </p:spPr>
        <p:txBody>
          <a:bodyPr wrap="square" lIns="0" tIns="0" rIns="0" bIns="0" rtlCol="0" anchor="ctr"/>
          <a:lstStyle/>
          <a:p>
            <a:pPr indent="0" marL="0">
              <a:buNone/>
            </a:pPr>
            <a:r>
              <a:rPr lang="en-US" sz="1600" b="1" dirty="0">
                <a:solidFill>
                  <a:schemeClr val="tx1"/>
                </a:solidFill>
              </a:rPr>
              <a:t>No pods/exec, five API calls</a:t>
            </a:r>
            <a:endParaRPr lang="en-US" sz="1600" dirty="0"/>
          </a:p>
        </p:txBody>
      </p:sp>
      <p:sp>
        <p:nvSpPr>
          <p:cNvPr id="17" name="Text 12"/>
          <p:cNvSpPr txBox="1"/>
          <p:nvPr/>
        </p:nvSpPr>
        <p:spPr>
          <a:xfrm>
            <a:off x="8275320" y="2331720"/>
            <a:ext cx="3154680" cy="1280160"/>
          </a:xfrm>
          <a:prstGeom prst="rect">
            <a:avLst/>
          </a:prstGeom>
          <a:noFill/>
          <a:ln/>
        </p:spPr>
        <p:txBody>
          <a:bodyPr wrap="square" lIns="0" tIns="0" rIns="0" bIns="0" rtlCol="0" anchor="t"/>
          <a:lstStyle/>
          <a:p>
            <a:pPr indent="0" marL="0">
              <a:buNone/>
            </a:pPr>
            <a:r>
              <a:rPr lang="en-US" sz="1400" dirty="0">
                <a:solidFill>
                  <a:schemeClr val="tx1"/>
                </a:solidFill>
              </a:rPr>
              <a:t>Create, get, log, delete pod and one access review. Nothing reaches into a running container.</a:t>
            </a:r>
            <a:endParaRPr lang="en-US" sz="1400" dirty="0"/>
          </a:p>
        </p:txBody>
      </p:sp>
      <p:sp>
        <p:nvSpPr>
          <p:cNvPr id="18" name="guard-3"/>
          <p:cNvSpPr/>
          <p:nvPr/>
        </p:nvSpPr>
        <p:spPr>
          <a:xfrm>
            <a:off x="548640" y="3840480"/>
            <a:ext cx="3566160" cy="2194560"/>
          </a:xfrm>
          <a:prstGeom prst="roundRect">
            <a:avLst>
              <a:gd name="adj" fmla="val 3333"/>
            </a:avLst>
          </a:prstGeom>
          <a:solidFill>
            <a:schemeClr val="bg2"/>
          </a:solidFill>
          <a:ln/>
          <a:effectLst>
            <a:outerShdw sx="100000" sy="100000" kx="0" ky="0" algn="bl" rotWithShape="0" blurRad="76200" dist="25400" dir="5400000">
              <a:srgbClr val="0F2A33">
                <a:alpha val="12000"/>
              </a:srgbClr>
            </a:outerShdw>
          </a:effectLst>
        </p:spPr>
      </p:sp>
      <p:sp>
        <p:nvSpPr>
          <p:cNvPr id="19" name="icon-guard-3-bg"/>
          <p:cNvSpPr/>
          <p:nvPr/>
        </p:nvSpPr>
        <p:spPr>
          <a:xfrm>
            <a:off x="777240" y="4023360"/>
            <a:ext cx="548640" cy="548640"/>
          </a:xfrm>
          <a:prstGeom prst="ellipse">
            <a:avLst/>
          </a:prstGeom>
          <a:solidFill>
            <a:schemeClr val="accent1"/>
          </a:solidFill>
          <a:ln/>
        </p:spPr>
      </p:sp>
      <p:pic>
        <p:nvPicPr>
          <p:cNvPr id="20" name="icon-guard-3" descr="icon-guard-3">    </p:cNvPr>
          <p:cNvPicPr>
            <a:picLocks noChangeAspect="1"/>
          </p:cNvPicPr>
          <p:nvPr/>
        </p:nvPicPr>
        <p:blipFill>
          <a:blip r:embed="rId4"/>
          <a:stretch>
            <a:fillRect/>
          </a:stretch>
        </p:blipFill>
        <p:spPr>
          <a:xfrm>
            <a:off x="919886" y="4166006"/>
            <a:ext cx="263347" cy="263347"/>
          </a:xfrm>
          <a:prstGeom prst="rect">
            <a:avLst/>
          </a:prstGeom>
        </p:spPr>
      </p:pic>
      <p:sp>
        <p:nvSpPr>
          <p:cNvPr id="21" name="Text 15"/>
          <p:cNvSpPr txBox="1"/>
          <p:nvPr/>
        </p:nvSpPr>
        <p:spPr>
          <a:xfrm>
            <a:off x="1463040" y="4023360"/>
            <a:ext cx="2514600" cy="548640"/>
          </a:xfrm>
          <a:prstGeom prst="rect">
            <a:avLst/>
          </a:prstGeom>
          <a:noFill/>
          <a:ln/>
        </p:spPr>
        <p:txBody>
          <a:bodyPr wrap="square" lIns="0" tIns="0" rIns="0" bIns="0" rtlCol="0" anchor="ctr"/>
          <a:lstStyle/>
          <a:p>
            <a:pPr indent="0" marL="0">
              <a:buNone/>
            </a:pPr>
            <a:r>
              <a:rPr lang="en-US" sz="1600" b="1" dirty="0">
                <a:solidFill>
                  <a:schemeClr val="tx1"/>
                </a:solidFill>
              </a:rPr>
              <a:t>Tokenless, network-denied pods</a:t>
            </a:r>
            <a:endParaRPr lang="en-US" sz="1600" dirty="0"/>
          </a:p>
        </p:txBody>
      </p:sp>
      <p:sp>
        <p:nvSpPr>
          <p:cNvPr id="22" name="Text 16"/>
          <p:cNvSpPr txBox="1"/>
          <p:nvPr/>
        </p:nvSpPr>
        <p:spPr>
          <a:xfrm>
            <a:off x="777240" y="4709160"/>
            <a:ext cx="3154680" cy="1280160"/>
          </a:xfrm>
          <a:prstGeom prst="rect">
            <a:avLst/>
          </a:prstGeom>
          <a:noFill/>
          <a:ln/>
        </p:spPr>
        <p:txBody>
          <a:bodyPr wrap="square" lIns="0" tIns="0" rIns="0" bIns="0" rtlCol="0" anchor="t"/>
          <a:lstStyle/>
          <a:p>
            <a:pPr indent="0" marL="0">
              <a:buNone/>
            </a:pPr>
            <a:r>
              <a:rPr lang="en-US" sz="1400" dirty="0">
                <a:solidFill>
                  <a:schemeClr val="tx1"/>
                </a:solidFill>
              </a:rPr>
              <a:t>Verification pods get no service-account token and a deny-network label, asserted by the offline test suite.</a:t>
            </a:r>
            <a:endParaRPr lang="en-US" sz="1400" dirty="0"/>
          </a:p>
        </p:txBody>
      </p:sp>
      <p:sp>
        <p:nvSpPr>
          <p:cNvPr id="23" name="guard-4"/>
          <p:cNvSpPr/>
          <p:nvPr/>
        </p:nvSpPr>
        <p:spPr>
          <a:xfrm>
            <a:off x="4297680" y="3840480"/>
            <a:ext cx="3566160" cy="2194560"/>
          </a:xfrm>
          <a:prstGeom prst="roundRect">
            <a:avLst>
              <a:gd name="adj" fmla="val 3333"/>
            </a:avLst>
          </a:prstGeom>
          <a:solidFill>
            <a:schemeClr val="bg2"/>
          </a:solidFill>
          <a:ln/>
          <a:effectLst>
            <a:outerShdw sx="100000" sy="100000" kx="0" ky="0" algn="bl" rotWithShape="0" blurRad="76200" dist="25400" dir="5400000">
              <a:srgbClr val="0F2A33">
                <a:alpha val="12000"/>
              </a:srgbClr>
            </a:outerShdw>
          </a:effectLst>
        </p:spPr>
      </p:sp>
      <p:sp>
        <p:nvSpPr>
          <p:cNvPr id="24" name="icon-guard-4-bg"/>
          <p:cNvSpPr/>
          <p:nvPr/>
        </p:nvSpPr>
        <p:spPr>
          <a:xfrm>
            <a:off x="4526280" y="4023360"/>
            <a:ext cx="548640" cy="548640"/>
          </a:xfrm>
          <a:prstGeom prst="ellipse">
            <a:avLst/>
          </a:prstGeom>
          <a:solidFill>
            <a:schemeClr val="accent1"/>
          </a:solidFill>
          <a:ln/>
        </p:spPr>
      </p:sp>
      <p:pic>
        <p:nvPicPr>
          <p:cNvPr id="25" name="icon-guard-4" descr="icon-guard-4">    </p:cNvPr>
          <p:cNvPicPr>
            <a:picLocks noChangeAspect="1"/>
          </p:cNvPicPr>
          <p:nvPr/>
        </p:nvPicPr>
        <p:blipFill>
          <a:blip r:embed="rId5"/>
          <a:stretch>
            <a:fillRect/>
          </a:stretch>
        </p:blipFill>
        <p:spPr>
          <a:xfrm>
            <a:off x="4668926" y="4166006"/>
            <a:ext cx="263347" cy="263347"/>
          </a:xfrm>
          <a:prstGeom prst="rect">
            <a:avLst/>
          </a:prstGeom>
        </p:spPr>
      </p:pic>
      <p:sp>
        <p:nvSpPr>
          <p:cNvPr id="26" name="Text 19"/>
          <p:cNvSpPr txBox="1"/>
          <p:nvPr/>
        </p:nvSpPr>
        <p:spPr>
          <a:xfrm>
            <a:off x="5212080" y="4023360"/>
            <a:ext cx="2514600" cy="548640"/>
          </a:xfrm>
          <a:prstGeom prst="rect">
            <a:avLst/>
          </a:prstGeom>
          <a:noFill/>
          <a:ln/>
        </p:spPr>
        <p:txBody>
          <a:bodyPr wrap="square" lIns="0" tIns="0" rIns="0" bIns="0" rtlCol="0" anchor="ctr"/>
          <a:lstStyle/>
          <a:p>
            <a:pPr indent="0" marL="0">
              <a:buNone/>
            </a:pPr>
            <a:r>
              <a:rPr lang="en-US" sz="1600" b="1" dirty="0">
                <a:solidFill>
                  <a:schemeClr val="tx1"/>
                </a:solidFill>
              </a:rPr>
              <a:t>Models mounted read-only</a:t>
            </a:r>
            <a:endParaRPr lang="en-US" sz="1600" dirty="0"/>
          </a:p>
        </p:txBody>
      </p:sp>
      <p:sp>
        <p:nvSpPr>
          <p:cNvPr id="27" name="Text 20"/>
          <p:cNvSpPr txBox="1"/>
          <p:nvPr/>
        </p:nvSpPr>
        <p:spPr>
          <a:xfrm>
            <a:off x="4526280" y="4709160"/>
            <a:ext cx="3154680" cy="1280160"/>
          </a:xfrm>
          <a:prstGeom prst="rect">
            <a:avLst/>
          </a:prstGeom>
          <a:noFill/>
          <a:ln/>
        </p:spPr>
        <p:txBody>
          <a:bodyPr wrap="square" lIns="0" tIns="0" rIns="0" bIns="0" rtlCol="0" anchor="t"/>
          <a:lstStyle/>
          <a:p>
            <a:pPr indent="0" marL="0">
              <a:buNone/>
            </a:pPr>
            <a:r>
              <a:rPr lang="en-US" sz="1400" dirty="0">
                <a:solidFill>
                  <a:schemeClr val="tx1"/>
                </a:solidFill>
              </a:rPr>
              <a:t>A model that could rewrite the corpus source would make every later attempt row unreproducible.</a:t>
            </a:r>
            <a:endParaRPr lang="en-US" sz="1400" dirty="0"/>
          </a:p>
        </p:txBody>
      </p:sp>
      <p:sp>
        <p:nvSpPr>
          <p:cNvPr id="28" name="guard-5"/>
          <p:cNvSpPr/>
          <p:nvPr/>
        </p:nvSpPr>
        <p:spPr>
          <a:xfrm>
            <a:off x="8046720" y="3840480"/>
            <a:ext cx="3566160" cy="2194560"/>
          </a:xfrm>
          <a:prstGeom prst="roundRect">
            <a:avLst>
              <a:gd name="adj" fmla="val 3333"/>
            </a:avLst>
          </a:prstGeom>
          <a:solidFill>
            <a:schemeClr val="bg2"/>
          </a:solidFill>
          <a:ln/>
          <a:effectLst>
            <a:outerShdw sx="100000" sy="100000" kx="0" ky="0" algn="bl" rotWithShape="0" blurRad="76200" dist="25400" dir="5400000">
              <a:srgbClr val="0F2A33">
                <a:alpha val="12000"/>
              </a:srgbClr>
            </a:outerShdw>
          </a:effectLst>
        </p:spPr>
      </p:sp>
      <p:sp>
        <p:nvSpPr>
          <p:cNvPr id="29" name="icon-guard-5-bg"/>
          <p:cNvSpPr/>
          <p:nvPr/>
        </p:nvSpPr>
        <p:spPr>
          <a:xfrm>
            <a:off x="8275320" y="4023360"/>
            <a:ext cx="548640" cy="548640"/>
          </a:xfrm>
          <a:prstGeom prst="ellipse">
            <a:avLst/>
          </a:prstGeom>
          <a:solidFill>
            <a:schemeClr val="accent1"/>
          </a:solidFill>
          <a:ln/>
        </p:spPr>
      </p:sp>
      <p:pic>
        <p:nvPicPr>
          <p:cNvPr id="30" name="icon-guard-5" descr="icon-guard-5">    </p:cNvPr>
          <p:cNvPicPr>
            <a:picLocks noChangeAspect="1"/>
          </p:cNvPicPr>
          <p:nvPr/>
        </p:nvPicPr>
        <p:blipFill>
          <a:blip r:embed="rId6"/>
          <a:stretch>
            <a:fillRect/>
          </a:stretch>
        </p:blipFill>
        <p:spPr>
          <a:xfrm>
            <a:off x="8417966" y="4166006"/>
            <a:ext cx="263347" cy="263347"/>
          </a:xfrm>
          <a:prstGeom prst="rect">
            <a:avLst/>
          </a:prstGeom>
        </p:spPr>
      </p:pic>
      <p:sp>
        <p:nvSpPr>
          <p:cNvPr id="31" name="Text 23"/>
          <p:cNvSpPr txBox="1"/>
          <p:nvPr/>
        </p:nvSpPr>
        <p:spPr>
          <a:xfrm>
            <a:off x="8961120" y="4023360"/>
            <a:ext cx="2514600" cy="548640"/>
          </a:xfrm>
          <a:prstGeom prst="rect">
            <a:avLst/>
          </a:prstGeom>
          <a:noFill/>
          <a:ln/>
        </p:spPr>
        <p:txBody>
          <a:bodyPr wrap="square" lIns="0" tIns="0" rIns="0" bIns="0" rtlCol="0" anchor="ctr"/>
          <a:lstStyle/>
          <a:p>
            <a:pPr indent="0" marL="0">
              <a:buNone/>
            </a:pPr>
            <a:r>
              <a:rPr lang="en-US" sz="1600" b="1" dirty="0">
                <a:solidFill>
                  <a:schemeClr val="tx1"/>
                </a:solidFill>
              </a:rPr>
              <a:t>Every job ends in a verdict</a:t>
            </a:r>
            <a:endParaRPr lang="en-US" sz="1600" dirty="0"/>
          </a:p>
        </p:txBody>
      </p:sp>
      <p:sp>
        <p:nvSpPr>
          <p:cNvPr id="32" name="Text 24"/>
          <p:cNvSpPr txBox="1"/>
          <p:nvPr/>
        </p:nvSpPr>
        <p:spPr>
          <a:xfrm>
            <a:off x="8275320" y="4709160"/>
            <a:ext cx="3154680" cy="1280160"/>
          </a:xfrm>
          <a:prstGeom prst="rect">
            <a:avLst/>
          </a:prstGeom>
          <a:noFill/>
          <a:ln/>
        </p:spPr>
        <p:txBody>
          <a:bodyPr wrap="square" lIns="0" tIns="0" rIns="0" bIns="0" rtlCol="0" anchor="t"/>
          <a:lstStyle/>
          <a:p>
            <a:pPr indent="0" marL="0">
              <a:buNone/>
            </a:pPr>
            <a:r>
              <a:rPr lang="en-US" sz="1400" dirty="0">
                <a:solidFill>
                  <a:schemeClr val="tx1"/>
                </a:solidFill>
              </a:rPr>
              <a:t>The record raises on an incomplete row. Completeness is a correctness property: the attempt corpus is the dataset.</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808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rgbClr val="0F2A33"/>
                </a:solidFill>
              </a:rPr>
              <a:t>Hook into model-discovery</a:t>
            </a:r>
            <a:endParaRPr lang="en-US" sz="3400" dirty="0"/>
          </a:p>
        </p:txBody>
      </p:sp>
      <p:sp>
        <p:nvSpPr>
          <p:cNvPr id="3" name="Shape 1"/>
          <p:cNvSpPr/>
          <p:nvPr/>
        </p:nvSpPr>
        <p:spPr>
          <a:xfrm>
            <a:off x="9601200" y="502920"/>
            <a:ext cx="2011680" cy="329184"/>
          </a:xfrm>
          <a:prstGeom prst="roundRect">
            <a:avLst>
              <a:gd name="adj" fmla="val 50000"/>
            </a:avLst>
          </a:prstGeom>
          <a:solidFill>
            <a:srgbClr val="F2A33A"/>
          </a:solidFill>
          <a:ln/>
        </p:spPr>
      </p:sp>
      <p:sp>
        <p:nvSpPr>
          <p:cNvPr id="4" name="Text 2"/>
          <p:cNvSpPr txBox="1"/>
          <p:nvPr/>
        </p:nvSpPr>
        <p:spPr>
          <a:xfrm>
            <a:off x="9601200" y="502920"/>
            <a:ext cx="2011680" cy="329184"/>
          </a:xfrm>
          <a:prstGeom prst="rect">
            <a:avLst/>
          </a:prstGeom>
          <a:noFill/>
          <a:ln/>
        </p:spPr>
        <p:txBody>
          <a:bodyPr wrap="square" lIns="0" tIns="0" rIns="0" bIns="0" rtlCol="0" anchor="ctr"/>
          <a:lstStyle/>
          <a:p>
            <a:pPr algn="ctr" indent="0" marL="0">
              <a:buNone/>
            </a:pPr>
            <a:r>
              <a:rPr lang="en-US" sz="1200" b="1" dirty="0">
                <a:solidFill>
                  <a:srgbClr val="0F2A33"/>
                </a:solidFill>
              </a:rPr>
              <a:t>PROPOSED DESIGN</a:t>
            </a:r>
            <a:endParaRPr lang="en-US" sz="1200" dirty="0"/>
          </a:p>
        </p:txBody>
      </p:sp>
      <p:sp>
        <p:nvSpPr>
          <p:cNvPr id="5" name="stage-0"/>
          <p:cNvSpPr/>
          <p:nvPr/>
        </p:nvSpPr>
        <p:spPr>
          <a:xfrm>
            <a:off x="548640" y="1554480"/>
            <a:ext cx="2011680" cy="1737360"/>
          </a:xfrm>
          <a:prstGeom prst="roundRect">
            <a:avLst>
              <a:gd name="adj" fmla="val 4211"/>
            </a:avLst>
          </a:prstGeom>
          <a:solidFill>
            <a:schemeClr val="accent5"/>
          </a:solidFill>
          <a:ln/>
          <a:effectLst>
            <a:outerShdw sx="100000" sy="100000" kx="0" ky="0" algn="bl" rotWithShape="0" blurRad="76200" dist="25400" dir="5400000">
              <a:srgbClr val="0F2A33">
                <a:alpha val="12000"/>
              </a:srgbClr>
            </a:outerShdw>
          </a:effectLst>
        </p:spPr>
      </p:sp>
      <p:sp>
        <p:nvSpPr>
          <p:cNvPr id="6" name="Text 4"/>
          <p:cNvSpPr txBox="1"/>
          <p:nvPr/>
        </p:nvSpPr>
        <p:spPr>
          <a:xfrm>
            <a:off x="685800" y="1664208"/>
            <a:ext cx="1737360" cy="548640"/>
          </a:xfrm>
          <a:prstGeom prst="rect">
            <a:avLst/>
          </a:prstGeom>
          <a:noFill/>
          <a:ln/>
        </p:spPr>
        <p:txBody>
          <a:bodyPr wrap="square" lIns="0" tIns="0" rIns="0" bIns="0" rtlCol="0" anchor="t"/>
          <a:lstStyle/>
          <a:p>
            <a:pPr indent="0" marL="0">
              <a:buNone/>
            </a:pPr>
            <a:r>
              <a:rPr lang="en-US" sz="1600" b="1" dirty="0">
                <a:solidFill>
                  <a:schemeClr val="bg1"/>
                </a:solidFill>
              </a:rPr>
              <a:t>Model registered</a:t>
            </a:r>
            <a:endParaRPr lang="en-US" sz="1600" dirty="0"/>
          </a:p>
        </p:txBody>
      </p:sp>
      <p:sp>
        <p:nvSpPr>
          <p:cNvPr id="7" name="Text 5"/>
          <p:cNvSpPr txBox="1"/>
          <p:nvPr/>
        </p:nvSpPr>
        <p:spPr>
          <a:xfrm>
            <a:off x="685800" y="2240280"/>
            <a:ext cx="1737360" cy="1005840"/>
          </a:xfrm>
          <a:prstGeom prst="rect">
            <a:avLst/>
          </a:prstGeom>
          <a:noFill/>
          <a:ln/>
        </p:spPr>
        <p:txBody>
          <a:bodyPr wrap="square" lIns="0" tIns="0" rIns="0" bIns="0" rtlCol="0" anchor="t"/>
          <a:lstStyle/>
          <a:p>
            <a:pPr indent="0" marL="0">
              <a:buNone/>
            </a:pPr>
            <a:r>
              <a:rPr lang="en-US" sz="1400" dirty="0">
                <a:solidFill>
                  <a:schemeClr val="bg1"/>
                </a:solidFill>
              </a:rPr>
              <a:t>Repo lands on the models claim</a:t>
            </a:r>
            <a:endParaRPr lang="en-US" sz="1400" dirty="0"/>
          </a:p>
        </p:txBody>
      </p:sp>
      <p:sp>
        <p:nvSpPr>
          <p:cNvPr id="8" name="Shape 6"/>
          <p:cNvSpPr/>
          <p:nvPr/>
        </p:nvSpPr>
        <p:spPr>
          <a:xfrm>
            <a:off x="2560320" y="2423160"/>
            <a:ext cx="251460" cy="0"/>
          </a:xfrm>
          <a:prstGeom prst="line">
            <a:avLst/>
          </a:prstGeom>
          <a:noFill/>
          <a:ln w="25400">
            <a:solidFill>
              <a:schemeClr val="accent5"/>
            </a:solidFill>
            <a:prstDash val="solid"/>
            <a:tailEnd type="triangle"/>
          </a:ln>
        </p:spPr>
      </p:sp>
      <p:sp>
        <p:nvSpPr>
          <p:cNvPr id="9" name="stage-1"/>
          <p:cNvSpPr/>
          <p:nvPr/>
        </p:nvSpPr>
        <p:spPr>
          <a:xfrm>
            <a:off x="2811780" y="1554480"/>
            <a:ext cx="2011680" cy="1737360"/>
          </a:xfrm>
          <a:prstGeom prst="roundRect">
            <a:avLst>
              <a:gd name="adj" fmla="val 4211"/>
            </a:avLst>
          </a:prstGeom>
          <a:solidFill>
            <a:schemeClr val="accent4"/>
          </a:solidFill>
          <a:ln/>
          <a:effectLst>
            <a:outerShdw sx="100000" sy="100000" kx="0" ky="0" algn="bl" rotWithShape="0" blurRad="76200" dist="25400" dir="5400000">
              <a:srgbClr val="0F2A33">
                <a:alpha val="12000"/>
              </a:srgbClr>
            </a:outerShdw>
          </a:effectLst>
        </p:spPr>
      </p:sp>
      <p:sp>
        <p:nvSpPr>
          <p:cNvPr id="10" name="Text 8"/>
          <p:cNvSpPr txBox="1"/>
          <p:nvPr/>
        </p:nvSpPr>
        <p:spPr>
          <a:xfrm>
            <a:off x="2948940" y="1664208"/>
            <a:ext cx="1737360" cy="548640"/>
          </a:xfrm>
          <a:prstGeom prst="rect">
            <a:avLst/>
          </a:prstGeom>
          <a:noFill/>
          <a:ln/>
        </p:spPr>
        <p:txBody>
          <a:bodyPr wrap="square" lIns="0" tIns="0" rIns="0" bIns="0" rtlCol="0" anchor="t"/>
          <a:lstStyle/>
          <a:p>
            <a:pPr indent="0" marL="0">
              <a:buNone/>
            </a:pPr>
            <a:r>
              <a:rPr lang="en-US" sz="1600" b="1" dirty="0">
                <a:solidFill>
                  <a:schemeClr val="bg1"/>
                </a:solidFill>
              </a:rPr>
              <a:t>Annotation reviewed</a:t>
            </a:r>
            <a:endParaRPr lang="en-US" sz="1600" dirty="0"/>
          </a:p>
        </p:txBody>
      </p:sp>
      <p:sp>
        <p:nvSpPr>
          <p:cNvPr id="11" name="Text 9"/>
          <p:cNvSpPr txBox="1"/>
          <p:nvPr/>
        </p:nvSpPr>
        <p:spPr>
          <a:xfrm>
            <a:off x="2948940" y="2240280"/>
            <a:ext cx="1737360" cy="1005840"/>
          </a:xfrm>
          <a:prstGeom prst="rect">
            <a:avLst/>
          </a:prstGeom>
          <a:noFill/>
          <a:ln/>
        </p:spPr>
        <p:txBody>
          <a:bodyPr wrap="square" lIns="0" tIns="0" rIns="0" bIns="0" rtlCol="0" anchor="t"/>
          <a:lstStyle/>
          <a:p>
            <a:pPr indent="0" marL="0">
              <a:buNone/>
            </a:pPr>
            <a:r>
              <a:rPr lang="en-US" sz="1400" dirty="0">
                <a:solidFill>
                  <a:schemeClr val="bg1"/>
                </a:solidFill>
              </a:rPr>
              <a:t>Human approves the metadata package</a:t>
            </a:r>
            <a:endParaRPr lang="en-US" sz="1400" dirty="0"/>
          </a:p>
        </p:txBody>
      </p:sp>
      <p:sp>
        <p:nvSpPr>
          <p:cNvPr id="12" name="Shape 10"/>
          <p:cNvSpPr/>
          <p:nvPr/>
        </p:nvSpPr>
        <p:spPr>
          <a:xfrm>
            <a:off x="4823460" y="2423160"/>
            <a:ext cx="251460" cy="0"/>
          </a:xfrm>
          <a:prstGeom prst="line">
            <a:avLst/>
          </a:prstGeom>
          <a:noFill/>
          <a:ln w="25400">
            <a:solidFill>
              <a:schemeClr val="accent5"/>
            </a:solidFill>
            <a:prstDash val="solid"/>
            <a:tailEnd type="triangle"/>
          </a:ln>
        </p:spPr>
      </p:sp>
      <p:sp>
        <p:nvSpPr>
          <p:cNvPr id="13" name="stage-2"/>
          <p:cNvSpPr/>
          <p:nvPr/>
        </p:nvSpPr>
        <p:spPr>
          <a:xfrm>
            <a:off x="5074920" y="1554480"/>
            <a:ext cx="2011680" cy="1737360"/>
          </a:xfrm>
          <a:prstGeom prst="roundRect">
            <a:avLst>
              <a:gd name="adj" fmla="val 4211"/>
            </a:avLst>
          </a:prstGeom>
          <a:solidFill>
            <a:schemeClr val="accent2"/>
          </a:solidFill>
          <a:ln/>
          <a:effectLst>
            <a:outerShdw sx="100000" sy="100000" kx="0" ky="0" algn="bl" rotWithShape="0" blurRad="76200" dist="25400" dir="5400000">
              <a:srgbClr val="0F2A33">
                <a:alpha val="12000"/>
              </a:srgbClr>
            </a:outerShdw>
          </a:effectLst>
        </p:spPr>
      </p:sp>
      <p:sp>
        <p:nvSpPr>
          <p:cNvPr id="14" name="Text 12"/>
          <p:cNvSpPr txBox="1"/>
          <p:nvPr/>
        </p:nvSpPr>
        <p:spPr>
          <a:xfrm>
            <a:off x="5212080" y="1664208"/>
            <a:ext cx="1737360" cy="548640"/>
          </a:xfrm>
          <a:prstGeom prst="rect">
            <a:avLst/>
          </a:prstGeom>
          <a:noFill/>
          <a:ln/>
        </p:spPr>
        <p:txBody>
          <a:bodyPr wrap="square" lIns="0" tIns="0" rIns="0" bIns="0" rtlCol="0" anchor="t"/>
          <a:lstStyle/>
          <a:p>
            <a:pPr indent="0" marL="0">
              <a:buNone/>
            </a:pPr>
            <a:r>
              <a:rPr lang="en-US" sz="1600" b="1" dirty="0">
                <a:solidFill>
                  <a:schemeClr val="tx1"/>
                </a:solidFill>
              </a:rPr>
              <a:t>Trigger fires</a:t>
            </a:r>
            <a:endParaRPr lang="en-US" sz="1600" dirty="0"/>
          </a:p>
        </p:txBody>
      </p:sp>
      <p:sp>
        <p:nvSpPr>
          <p:cNvPr id="15" name="Text 13"/>
          <p:cNvSpPr txBox="1"/>
          <p:nvPr/>
        </p:nvSpPr>
        <p:spPr>
          <a:xfrm>
            <a:off x="5212080" y="2240280"/>
            <a:ext cx="1737360" cy="1005840"/>
          </a:xfrm>
          <a:prstGeom prst="rect">
            <a:avLst/>
          </a:prstGeom>
          <a:noFill/>
          <a:ln/>
        </p:spPr>
        <p:txBody>
          <a:bodyPr wrap="square" lIns="0" tIns="0" rIns="0" bIns="0" rtlCol="0" anchor="t"/>
          <a:lstStyle/>
          <a:p>
            <a:pPr indent="0" marL="0">
              <a:buNone/>
            </a:pPr>
            <a:r>
              <a:rPr lang="en-US" sz="1400" dirty="0">
                <a:solidFill>
                  <a:schemeClr val="tx1"/>
                </a:solidFill>
              </a:rPr>
              <a:t>model-discovery launches an envbuild Job</a:t>
            </a:r>
            <a:endParaRPr lang="en-US" sz="1400" dirty="0"/>
          </a:p>
        </p:txBody>
      </p:sp>
      <p:sp>
        <p:nvSpPr>
          <p:cNvPr id="16" name="Shape 14"/>
          <p:cNvSpPr/>
          <p:nvPr/>
        </p:nvSpPr>
        <p:spPr>
          <a:xfrm>
            <a:off x="7086600" y="2423160"/>
            <a:ext cx="251460" cy="0"/>
          </a:xfrm>
          <a:prstGeom prst="line">
            <a:avLst/>
          </a:prstGeom>
          <a:noFill/>
          <a:ln w="25400">
            <a:solidFill>
              <a:schemeClr val="accent5"/>
            </a:solidFill>
            <a:prstDash val="solid"/>
            <a:tailEnd type="triangle"/>
          </a:ln>
        </p:spPr>
      </p:sp>
      <p:sp>
        <p:nvSpPr>
          <p:cNvPr id="17" name="stage-3"/>
          <p:cNvSpPr/>
          <p:nvPr/>
        </p:nvSpPr>
        <p:spPr>
          <a:xfrm>
            <a:off x="7338060" y="1554480"/>
            <a:ext cx="2011680" cy="1737360"/>
          </a:xfrm>
          <a:prstGeom prst="roundRect">
            <a:avLst>
              <a:gd name="adj" fmla="val 4211"/>
            </a:avLst>
          </a:prstGeom>
          <a:solidFill>
            <a:schemeClr val="accent1"/>
          </a:solidFill>
          <a:ln/>
          <a:effectLst>
            <a:outerShdw sx="100000" sy="100000" kx="0" ky="0" algn="bl" rotWithShape="0" blurRad="76200" dist="25400" dir="5400000">
              <a:srgbClr val="0F2A33">
                <a:alpha val="12000"/>
              </a:srgbClr>
            </a:outerShdw>
          </a:effectLst>
        </p:spPr>
      </p:sp>
      <p:sp>
        <p:nvSpPr>
          <p:cNvPr id="18" name="Text 16"/>
          <p:cNvSpPr txBox="1"/>
          <p:nvPr/>
        </p:nvSpPr>
        <p:spPr>
          <a:xfrm>
            <a:off x="7475220" y="1664208"/>
            <a:ext cx="1737360" cy="548640"/>
          </a:xfrm>
          <a:prstGeom prst="rect">
            <a:avLst/>
          </a:prstGeom>
          <a:noFill/>
          <a:ln/>
        </p:spPr>
        <p:txBody>
          <a:bodyPr wrap="square" lIns="0" tIns="0" rIns="0" bIns="0" rtlCol="0" anchor="t"/>
          <a:lstStyle/>
          <a:p>
            <a:pPr indent="0" marL="0">
              <a:buNone/>
            </a:pPr>
            <a:r>
              <a:rPr lang="en-US" sz="1600" b="1" dirty="0">
                <a:solidFill>
                  <a:schemeClr val="bg1"/>
                </a:solidFill>
              </a:rPr>
              <a:t>envbuild loop</a:t>
            </a:r>
            <a:endParaRPr lang="en-US" sz="1600" dirty="0"/>
          </a:p>
        </p:txBody>
      </p:sp>
      <p:sp>
        <p:nvSpPr>
          <p:cNvPr id="19" name="Text 17"/>
          <p:cNvSpPr txBox="1"/>
          <p:nvPr/>
        </p:nvSpPr>
        <p:spPr>
          <a:xfrm>
            <a:off x="7475220" y="2240280"/>
            <a:ext cx="1737360" cy="1005840"/>
          </a:xfrm>
          <a:prstGeom prst="rect">
            <a:avLst/>
          </a:prstGeom>
          <a:noFill/>
          <a:ln/>
        </p:spPr>
        <p:txBody>
          <a:bodyPr wrap="square" lIns="0" tIns="0" rIns="0" bIns="0" rtlCol="0" anchor="t"/>
          <a:lstStyle/>
          <a:p>
            <a:pPr indent="0" marL="0">
              <a:buNone/>
            </a:pPr>
            <a:r>
              <a:rPr lang="en-US" sz="1400" dirty="0">
                <a:solidFill>
                  <a:schemeClr val="bg1"/>
                </a:solidFill>
              </a:rPr>
              <a:t>Build, verify, repair. Minutes to tens of minutes</a:t>
            </a:r>
            <a:endParaRPr lang="en-US" sz="1400" dirty="0"/>
          </a:p>
        </p:txBody>
      </p:sp>
      <p:sp>
        <p:nvSpPr>
          <p:cNvPr id="20" name="Shape 18"/>
          <p:cNvSpPr/>
          <p:nvPr/>
        </p:nvSpPr>
        <p:spPr>
          <a:xfrm>
            <a:off x="9349740" y="2423160"/>
            <a:ext cx="251460" cy="0"/>
          </a:xfrm>
          <a:prstGeom prst="line">
            <a:avLst/>
          </a:prstGeom>
          <a:noFill/>
          <a:ln w="25400">
            <a:solidFill>
              <a:schemeClr val="accent5"/>
            </a:solidFill>
            <a:prstDash val="solid"/>
            <a:tailEnd type="triangle"/>
          </a:ln>
        </p:spPr>
      </p:sp>
      <p:sp>
        <p:nvSpPr>
          <p:cNvPr id="21" name="stage-4"/>
          <p:cNvSpPr/>
          <p:nvPr/>
        </p:nvSpPr>
        <p:spPr>
          <a:xfrm>
            <a:off x="9601200" y="1554480"/>
            <a:ext cx="2011680" cy="1737360"/>
          </a:xfrm>
          <a:prstGeom prst="roundRect">
            <a:avLst>
              <a:gd name="adj" fmla="val 4211"/>
            </a:avLst>
          </a:prstGeom>
          <a:solidFill>
            <a:schemeClr val="accent6"/>
          </a:solidFill>
          <a:ln/>
          <a:effectLst>
            <a:outerShdw sx="100000" sy="100000" kx="0" ky="0" algn="bl" rotWithShape="0" blurRad="76200" dist="25400" dir="5400000">
              <a:srgbClr val="0F2A33">
                <a:alpha val="12000"/>
              </a:srgbClr>
            </a:outerShdw>
          </a:effectLst>
        </p:spPr>
      </p:sp>
      <p:sp>
        <p:nvSpPr>
          <p:cNvPr id="22" name="Text 20"/>
          <p:cNvSpPr txBox="1"/>
          <p:nvPr/>
        </p:nvSpPr>
        <p:spPr>
          <a:xfrm>
            <a:off x="9738360" y="1664208"/>
            <a:ext cx="1737360" cy="548640"/>
          </a:xfrm>
          <a:prstGeom prst="rect">
            <a:avLst/>
          </a:prstGeom>
          <a:noFill/>
          <a:ln/>
        </p:spPr>
        <p:txBody>
          <a:bodyPr wrap="square" lIns="0" tIns="0" rIns="0" bIns="0" rtlCol="0" anchor="t"/>
          <a:lstStyle/>
          <a:p>
            <a:pPr indent="0" marL="0">
              <a:buNone/>
            </a:pPr>
            <a:r>
              <a:rPr lang="en-US" sz="1600" b="1" dirty="0">
                <a:solidFill>
                  <a:schemeClr val="bg1"/>
                </a:solidFill>
              </a:rPr>
              <a:t>Result written back</a:t>
            </a:r>
            <a:endParaRPr lang="en-US" sz="1600" dirty="0"/>
          </a:p>
        </p:txBody>
      </p:sp>
      <p:sp>
        <p:nvSpPr>
          <p:cNvPr id="23" name="Text 21"/>
          <p:cNvSpPr txBox="1"/>
          <p:nvPr/>
        </p:nvSpPr>
        <p:spPr>
          <a:xfrm>
            <a:off x="9738360" y="2240280"/>
            <a:ext cx="1737360" cy="1005840"/>
          </a:xfrm>
          <a:prstGeom prst="rect">
            <a:avLst/>
          </a:prstGeom>
          <a:noFill/>
          <a:ln/>
        </p:spPr>
        <p:txBody>
          <a:bodyPr wrap="square" lIns="0" tIns="0" rIns="0" bIns="0" rtlCol="0" anchor="t"/>
          <a:lstStyle/>
          <a:p>
            <a:pPr indent="0" marL="0">
              <a:buNone/>
            </a:pPr>
            <a:r>
              <a:rPr lang="en-US" sz="1400" dirty="0">
                <a:solidFill>
                  <a:schemeClr val="bg1"/>
                </a:solidFill>
              </a:rPr>
              <a:t>Verdict, digest, level, lockfile on the model record</a:t>
            </a:r>
            <a:endParaRPr lang="en-US" sz="1400" dirty="0"/>
          </a:p>
        </p:txBody>
      </p:sp>
      <p:sp>
        <p:nvSpPr>
          <p:cNvPr id="24" name="exists-card"/>
          <p:cNvSpPr/>
          <p:nvPr/>
        </p:nvSpPr>
        <p:spPr>
          <a:xfrm>
            <a:off x="548640" y="3657600"/>
            <a:ext cx="5394960" cy="2377440"/>
          </a:xfrm>
          <a:prstGeom prst="roundRect">
            <a:avLst>
              <a:gd name="adj" fmla="val 3077"/>
            </a:avLst>
          </a:prstGeom>
          <a:solidFill>
            <a:schemeClr val="bg2"/>
          </a:solidFill>
          <a:ln/>
          <a:effectLst>
            <a:outerShdw sx="100000" sy="100000" kx="0" ky="0" algn="bl" rotWithShape="0" blurRad="76200" dist="25400" dir="5400000">
              <a:srgbClr val="0F2A33">
                <a:alpha val="12000"/>
              </a:srgbClr>
            </a:outerShdw>
          </a:effectLst>
        </p:spPr>
      </p:sp>
      <p:sp>
        <p:nvSpPr>
          <p:cNvPr id="25" name="Text 23"/>
          <p:cNvSpPr txBox="1"/>
          <p:nvPr/>
        </p:nvSpPr>
        <p:spPr>
          <a:xfrm>
            <a:off x="822960" y="3794760"/>
            <a:ext cx="4846320" cy="365760"/>
          </a:xfrm>
          <a:prstGeom prst="rect">
            <a:avLst/>
          </a:prstGeom>
          <a:noFill/>
          <a:ln/>
        </p:spPr>
        <p:txBody>
          <a:bodyPr wrap="square" lIns="0" tIns="0" rIns="0" bIns="0" rtlCol="0" anchor="t"/>
          <a:lstStyle/>
          <a:p>
            <a:pPr indent="0" marL="0">
              <a:buNone/>
            </a:pPr>
            <a:r>
              <a:rPr lang="en-US" sz="1800" b="1" dirty="0">
                <a:solidFill>
                  <a:schemeClr val="accent1"/>
                </a:solidFill>
              </a:rPr>
              <a:t>Already in envagent</a:t>
            </a:r>
            <a:endParaRPr lang="en-US" sz="1800" dirty="0"/>
          </a:p>
        </p:txBody>
      </p:sp>
      <p:sp>
        <p:nvSpPr>
          <p:cNvPr id="26" name="Text 24"/>
          <p:cNvSpPr txBox="1"/>
          <p:nvPr/>
        </p:nvSpPr>
        <p:spPr>
          <a:xfrm>
            <a:off x="822960" y="4251960"/>
            <a:ext cx="493776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Job manifest (deploy/agent-job.yaml) parameterised by MODEL_ID, MODEL_REPO, ANNOTATION</a:t>
            </a:r>
            <a:endParaRPr lang="en-US" sz="1400" dirty="0"/>
          </a:p>
          <a:p>
            <a:pPr marL="342900" indent="-342900">
              <a:spcAft>
                <a:spcPts val="600"/>
              </a:spcAft>
              <a:buSzPct val="100000"/>
              <a:buChar char="•"/>
            </a:pPr>
            <a:r>
              <a:rPr lang="en-US" sz="1400" dirty="0">
                <a:solidFill>
                  <a:schemeClr val="tx1"/>
                </a:solidFill>
              </a:rPr>
              <a:t>Reads a metadata-package directory directly</a:t>
            </a:r>
            <a:endParaRPr lang="en-US" sz="1400" dirty="0"/>
          </a:p>
          <a:p>
            <a:pPr marL="342900" indent="-342900">
              <a:spcAft>
                <a:spcPts val="600"/>
              </a:spcAft>
              <a:buSzPct val="100000"/>
              <a:buChar char="•"/>
            </a:pPr>
            <a:r>
              <a:rPr lang="en-US" sz="1400" dirty="0">
                <a:solidFill>
                  <a:schemeClr val="tx1"/>
                </a:solidFill>
              </a:rPr>
              <a:t>Records every attempt and verdict as JSONL</a:t>
            </a:r>
            <a:endParaRPr lang="en-US" sz="1400" dirty="0"/>
          </a:p>
          <a:p>
            <a:pPr marL="342900" indent="-342900">
              <a:spcAft>
                <a:spcPts val="600"/>
              </a:spcAft>
              <a:buSzPct val="100000"/>
              <a:buChar char="•"/>
            </a:pPr>
            <a:r>
              <a:rPr lang="en-US" sz="1400" dirty="0">
                <a:solidFill>
                  <a:schemeClr val="tx1"/>
                </a:solidFill>
              </a:rPr>
              <a:t>reverify path for code changes with unchanged deps</a:t>
            </a:r>
            <a:endParaRPr lang="en-US" sz="1400" dirty="0"/>
          </a:p>
        </p:txBody>
      </p:sp>
      <p:sp>
        <p:nvSpPr>
          <p:cNvPr id="27" name="adds-card"/>
          <p:cNvSpPr/>
          <p:nvPr/>
        </p:nvSpPr>
        <p:spPr>
          <a:xfrm>
            <a:off x="6217920" y="3657600"/>
            <a:ext cx="5394960" cy="2377440"/>
          </a:xfrm>
          <a:prstGeom prst="roundRect">
            <a:avLst>
              <a:gd name="adj" fmla="val 3077"/>
            </a:avLst>
          </a:prstGeom>
          <a:solidFill>
            <a:schemeClr val="bg2"/>
          </a:solidFill>
          <a:ln/>
          <a:effectLst>
            <a:outerShdw sx="100000" sy="100000" kx="0" ky="0" algn="bl" rotWithShape="0" blurRad="76200" dist="25400" dir="5400000">
              <a:srgbClr val="0F2A33">
                <a:alpha val="12000"/>
              </a:srgbClr>
            </a:outerShdw>
          </a:effectLst>
        </p:spPr>
      </p:sp>
      <p:sp>
        <p:nvSpPr>
          <p:cNvPr id="28" name="Text 26"/>
          <p:cNvSpPr txBox="1"/>
          <p:nvPr/>
        </p:nvSpPr>
        <p:spPr>
          <a:xfrm>
            <a:off x="6492240" y="3794760"/>
            <a:ext cx="4846320" cy="365760"/>
          </a:xfrm>
          <a:prstGeom prst="rect">
            <a:avLst/>
          </a:prstGeom>
          <a:noFill/>
          <a:ln/>
        </p:spPr>
        <p:txBody>
          <a:bodyPr wrap="square" lIns="0" tIns="0" rIns="0" bIns="0" rtlCol="0" anchor="t"/>
          <a:lstStyle/>
          <a:p>
            <a:pPr indent="0" marL="0">
              <a:buNone/>
            </a:pPr>
            <a:r>
              <a:rPr lang="en-US" sz="1800" b="1" dirty="0">
                <a:solidFill>
                  <a:schemeClr val="accent3"/>
                </a:solidFill>
              </a:rPr>
              <a:t>Integration adds</a:t>
            </a:r>
            <a:endParaRPr lang="en-US" sz="1800" dirty="0"/>
          </a:p>
        </p:txBody>
      </p:sp>
      <p:sp>
        <p:nvSpPr>
          <p:cNvPr id="29" name="Text 27"/>
          <p:cNvSpPr txBox="1"/>
          <p:nvPr/>
        </p:nvSpPr>
        <p:spPr>
          <a:xfrm>
            <a:off x="6492240" y="4251960"/>
            <a:ext cx="493776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An event hook on annotation-reviewed</a:t>
            </a:r>
            <a:endParaRPr lang="en-US" sz="1400" dirty="0"/>
          </a:p>
          <a:p>
            <a:pPr marL="342900" indent="-342900">
              <a:spcAft>
                <a:spcPts val="600"/>
              </a:spcAft>
              <a:buSzPct val="100000"/>
              <a:buChar char="•"/>
            </a:pPr>
            <a:r>
              <a:rPr lang="en-US" sz="1400" dirty="0">
                <a:solidFill>
                  <a:schemeClr val="tx1"/>
                </a:solidFill>
              </a:rPr>
              <a:t>A launcher with a concurrency cap on cluster builds</a:t>
            </a:r>
            <a:endParaRPr lang="en-US" sz="1400" dirty="0"/>
          </a:p>
          <a:p>
            <a:pPr marL="342900" indent="-342900">
              <a:spcAft>
                <a:spcPts val="600"/>
              </a:spcAft>
              <a:buSzPct val="100000"/>
              <a:buChar char="•"/>
            </a:pPr>
            <a:r>
              <a:rPr lang="en-US" sz="1400" dirty="0">
                <a:solidFill>
                  <a:schemeClr val="tx1"/>
                </a:solidFill>
              </a:rPr>
              <a:t>Write-back of the verdict to the model record</a:t>
            </a:r>
            <a:endParaRPr lang="en-US" sz="1400" dirty="0"/>
          </a:p>
          <a:p>
            <a:pPr marL="342900" indent="-342900">
              <a:spcAft>
                <a:spcPts val="600"/>
              </a:spcAft>
              <a:buSzPct val="100000"/>
              <a:buChar char="•"/>
            </a:pPr>
            <a:r>
              <a:rPr lang="en-US" sz="1400" dirty="0">
                <a:solidFill>
                  <a:schemeClr val="tx1"/>
                </a:solidFill>
              </a:rPr>
              <a:t>Failure feedback surfaced to the submitter</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808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rgbClr val="0F2A33"/>
                </a:solidFill>
              </a:rPr>
              <a:t>What model-discovery gets back</a:t>
            </a:r>
            <a:endParaRPr lang="en-US" sz="3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1554480"/>
                <a:gridCol w="4572000"/>
                <a:gridCol w="4937760"/>
              </a:tblGrid>
              <a:tr h="411480">
                <a:tc>
                  <a:txBody>
                    <a:bodyPr/>
                    <a:lstStyle/>
                    <a:p>
                      <a:pPr indent="0" marL="0">
                        <a:buNone/>
                      </a:pPr>
                      <a:r>
                        <a:rPr lang="en-US" sz="1400" b="1" dirty="0">
                          <a:solidFill>
                            <a:schemeClr val="bg1"/>
                          </a:solidFill>
                        </a:rPr>
                        <a:t>Verdict</a:t>
                      </a:r>
                      <a:endParaRPr lang="en-US" sz="1400" dirty="0"/>
                    </a:p>
                  </a:txBody>
                  <a:tcPr marL="109728" marR="109728"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Meaning</a:t>
                      </a:r>
                      <a:endParaRPr lang="en-US" sz="1400" dirty="0"/>
                    </a:p>
                  </a:txBody>
                  <a:tcPr marL="109728" marR="109728"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model-discovery action</a:t>
                      </a:r>
                      <a:endParaRPr lang="en-US" sz="1400" dirty="0"/>
                    </a:p>
                  </a:txBody>
                  <a:tcPr marL="109728" marR="109728"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tx2"/>
                    </a:solidFill>
                  </a:tcPr>
                </a:tc>
              </a:tr>
              <a:tr h="731520">
                <a:tc>
                  <a:txBody>
                    <a:bodyPr/>
                    <a:lstStyle/>
                    <a:p>
                      <a:pPr algn="ctr" indent="0" marL="0">
                        <a:buNone/>
                      </a:pPr>
                      <a:r>
                        <a:rPr lang="en-US" sz="1400" b="1" dirty="0">
                          <a:solidFill>
                            <a:schemeClr val="bg1"/>
                          </a:solidFill>
                        </a:rPr>
                        <a:t>verified</a:t>
                      </a:r>
                      <a:endParaRPr lang="en-US" sz="1400" dirty="0"/>
                    </a:p>
                  </a:txBody>
                  <a:tcPr marL="109728" marR="109728"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400" dirty="0">
                          <a:solidFill>
                            <a:schemeClr val="tx1"/>
                          </a:solidFill>
                        </a:rPr>
                        <a:t>L3 passed: the repo's example ran in the image</a:t>
                      </a:r>
                      <a:endParaRPr lang="en-US" sz="1400" dirty="0"/>
                    </a:p>
                  </a:txBody>
                  <a:tcPr marL="109728" marR="109728"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Store image digest, code revision, level, lockfile hash. Mark runnable</a:t>
                      </a:r>
                      <a:endParaRPr lang="en-US" sz="1400" dirty="0"/>
                    </a:p>
                  </a:txBody>
                  <a:tcPr marL="109728" marR="109728"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r>
              <a:tr h="731520">
                <a:tc>
                  <a:txBody>
                    <a:bodyPr/>
                    <a:lstStyle/>
                    <a:p>
                      <a:pPr algn="ctr" indent="0" marL="0">
                        <a:buNone/>
                      </a:pPr>
                      <a:r>
                        <a:rPr lang="en-US" sz="1400" b="1" dirty="0">
                          <a:solidFill>
                            <a:schemeClr val="bg1"/>
                          </a:solidFill>
                        </a:rPr>
                        <a:t>failed</a:t>
                      </a:r>
                      <a:endParaRPr lang="en-US" sz="1400" dirty="0"/>
                    </a:p>
                  </a:txBody>
                  <a:tcPr marL="109728" marR="109728"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3"/>
                    </a:solidFill>
                  </a:tcPr>
                </a:tc>
                <a:tc>
                  <a:txBody>
                    <a:bodyPr/>
                    <a:lstStyle/>
                    <a:p>
                      <a:pPr indent="0" marL="0">
                        <a:buNone/>
                      </a:pPr>
                      <a:r>
                        <a:rPr lang="en-US" sz="1400" dirty="0">
                          <a:solidFill>
                            <a:schemeClr val="tx1"/>
                          </a:solidFill>
                        </a:rPr>
                        <a:t>Attempts spent: build, entry point or runtime error in the model</a:t>
                      </a:r>
                      <a:endParaRPr lang="en-US" sz="1400" dirty="0"/>
                    </a:p>
                  </a:txBody>
                  <a:tcPr marL="109728" marR="109728"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Return to submitter with failed rung, class and tried entries</a:t>
                      </a:r>
                      <a:endParaRPr lang="en-US" sz="1400" dirty="0"/>
                    </a:p>
                  </a:txBody>
                  <a:tcPr marL="109728" marR="109728"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r>
              <a:tr h="731520">
                <a:tc>
                  <a:txBody>
                    <a:bodyPr/>
                    <a:lstStyle/>
                    <a:p>
                      <a:pPr algn="ctr" indent="0" marL="0">
                        <a:buNone/>
                      </a:pPr>
                      <a:r>
                        <a:rPr lang="en-US" sz="1400" b="1" dirty="0">
                          <a:solidFill>
                            <a:schemeClr val="tx1"/>
                          </a:solidFill>
                        </a:rPr>
                        <a:t>escalated</a:t>
                      </a:r>
                      <a:endParaRPr lang="en-US" sz="1400" dirty="0"/>
                    </a:p>
                  </a:txBody>
                  <a:tcPr marL="109728" marR="109728"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2"/>
                    </a:solidFill>
                  </a:tcPr>
                </a:tc>
                <a:tc>
                  <a:txBody>
                    <a:bodyPr/>
                    <a:lstStyle/>
                    <a:p>
                      <a:pPr indent="0" marL="0">
                        <a:buNone/>
                      </a:pPr>
                      <a:r>
                        <a:rPr lang="en-US" sz="1400" dirty="0">
                          <a:solidFill>
                            <a:schemeClr val="tx1"/>
                          </a:solidFill>
                        </a:rPr>
                        <a:t>No typed repair applies: unsupported toolchain, VCS dependency</a:t>
                      </a:r>
                      <a:endParaRPr lang="en-US" sz="1400" dirty="0"/>
                    </a:p>
                  </a:txBody>
                  <a:tcPr marL="109728" marR="109728"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Route to a human; the reason string says what is missing</a:t>
                      </a:r>
                      <a:endParaRPr lang="en-US" sz="1400" dirty="0"/>
                    </a:p>
                  </a:txBody>
                  <a:tcPr marL="109728" marR="109728"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r>
              <a:tr h="731520">
                <a:tc>
                  <a:txBody>
                    <a:bodyPr/>
                    <a:lstStyle/>
                    <a:p>
                      <a:pPr algn="ctr" indent="0" marL="0">
                        <a:buNone/>
                      </a:pPr>
                      <a:r>
                        <a:rPr lang="en-US" sz="1400" b="1" dirty="0">
                          <a:solidFill>
                            <a:schemeClr val="bg1"/>
                          </a:solidFill>
                        </a:rPr>
                        <a:t>error</a:t>
                      </a:r>
                      <a:endParaRPr lang="en-US" sz="1400" dirty="0"/>
                    </a:p>
                  </a:txBody>
                  <a:tcPr marL="109728" marR="109728"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5"/>
                    </a:solidFill>
                  </a:tcPr>
                </a:tc>
                <a:tc>
                  <a:txBody>
                    <a:bodyPr/>
                    <a:lstStyle/>
                    <a:p>
                      <a:pPr indent="0" marL="0">
                        <a:buNone/>
                      </a:pPr>
                      <a:r>
                        <a:rPr lang="en-US" sz="1400" dirty="0">
                          <a:solidFill>
                            <a:schemeClr val="tx1"/>
                          </a:solidFill>
                        </a:rPr>
                        <a:t>Substrate failed (cluster, registry). Not the model's fault</a:t>
                      </a:r>
                      <a:endParaRPr lang="en-US" sz="1400" dirty="0"/>
                    </a:p>
                  </a:txBody>
                  <a:tcPr marL="109728" marR="109728"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Re-queue the job, do not penalise the model</a:t>
                      </a:r>
                      <a:endParaRPr lang="en-US" sz="1400" dirty="0"/>
                    </a:p>
                  </a:txBody>
                  <a:tcPr marL="109728" marR="109728" marT="45720" marB="4572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r>
            </a:tbl>
          </a:graphicData>
        </a:graphic>
      </p:graphicFrame>
      <p:sp>
        <p:nvSpPr>
          <p:cNvPr id="4" name="contract-note"/>
          <p:cNvSpPr/>
          <p:nvPr/>
        </p:nvSpPr>
        <p:spPr>
          <a:xfrm>
            <a:off x="548640" y="4983480"/>
            <a:ext cx="11064240" cy="1097280"/>
          </a:xfrm>
          <a:prstGeom prst="roundRect">
            <a:avLst>
              <a:gd name="adj" fmla="val 6667"/>
            </a:avLst>
          </a:prstGeom>
          <a:solidFill>
            <a:schemeClr val="bg2"/>
          </a:solidFill>
          <a:ln/>
          <a:effectLst>
            <a:outerShdw sx="100000" sy="100000" kx="0" ky="0" algn="bl" rotWithShape="0" blurRad="76200" dist="25400" dir="5400000">
              <a:srgbClr val="0F2A33">
                <a:alpha val="12000"/>
              </a:srgbClr>
            </a:outerShdw>
          </a:effectLst>
        </p:spPr>
      </p:sp>
      <p:sp>
        <p:nvSpPr>
          <p:cNvPr id="5" name="Text 2"/>
          <p:cNvSpPr txBox="1"/>
          <p:nvPr/>
        </p:nvSpPr>
        <p:spPr>
          <a:xfrm>
            <a:off x="822960" y="5029200"/>
            <a:ext cx="10515600" cy="1005840"/>
          </a:xfrm>
          <a:prstGeom prst="rect">
            <a:avLst/>
          </a:prstGeom>
          <a:noFill/>
          <a:ln/>
        </p:spPr>
        <p:txBody>
          <a:bodyPr wrap="square" lIns="0" tIns="0" rIns="0" bIns="0" rtlCol="0" anchor="ctr"/>
          <a:lstStyle/>
          <a:p>
            <a:pPr indent="0" marL="0">
              <a:buNone/>
            </a:pPr>
            <a:r>
              <a:rPr lang="en-US" sz="1400" b="1" dirty="0">
                <a:solidFill>
                  <a:schemeClr val="accent1"/>
                </a:solidFill>
              </a:rPr>
              <a:t>At run time: </a:t>
            </a:r>
            <a:pPr indent="0" marL="0">
              <a:buNone/>
            </a:pPr>
            <a:r>
              <a:rPr lang="en-US" sz="1400" dirty="0">
                <a:solidFill>
                  <a:schemeClr val="tx1"/>
                </a:solidFill>
              </a:rPr>
              <a:t>mount the code at /model on the pinned image. The entry point lives on the model record, not in the image, so many models can share one image. When only the code changes, reverify replays L2 and L3 against the existing image.</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808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rgbClr val="0F2A33"/>
                </a:solidFill>
              </a:rPr>
              <a:t>What it can build today</a:t>
            </a:r>
            <a:endParaRPr lang="en-US" sz="3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4937760"/>
                <a:gridCol w="1371600"/>
                <a:gridCol w="4754880"/>
              </a:tblGrid>
              <a:tr h="384048">
                <a:tc>
                  <a:txBody>
                    <a:bodyPr/>
                    <a:lstStyle/>
                    <a:p>
                      <a:pPr indent="0" marL="0">
                        <a:buNone/>
                      </a:pPr>
                      <a:r>
                        <a:rPr lang="en-US" sz="1400" b="1" dirty="0">
                          <a:solidFill>
                            <a:schemeClr val="bg1"/>
                          </a:solidFill>
                        </a:rPr>
                        <a:t>Environment family</a:t>
                      </a:r>
                      <a:endParaRPr lang="en-US" sz="1400" dirty="0"/>
                    </a:p>
                  </a:txBody>
                  <a:tcPr marL="109728" marR="109728"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Status</a:t>
                      </a:r>
                      <a:endParaRPr lang="en-US" sz="1400" dirty="0"/>
                    </a:p>
                  </a:txBody>
                  <a:tcPr marL="109728" marR="109728"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Evidence from the hold-out</a:t>
                      </a:r>
                      <a:endParaRPr lang="en-US" sz="1400" dirty="0"/>
                    </a:p>
                  </a:txBody>
                  <a:tcPr marL="109728" marR="109728"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tx2"/>
                    </a:solidFill>
                  </a:tcPr>
                </a:tc>
              </a:tr>
              <a:tr h="475488">
                <a:tc>
                  <a:txBody>
                    <a:bodyPr/>
                    <a:lstStyle/>
                    <a:p>
                      <a:pPr indent="0" marL="0">
                        <a:buNone/>
                      </a:pPr>
                      <a:r>
                        <a:rPr lang="en-US" sz="1400" dirty="0">
                          <a:solidFill>
                            <a:schemeClr val="tx1"/>
                          </a:solidFill>
                        </a:rPr>
                        <a:t>Python, pip (pyproject, requirements, lockfile)</a:t>
                      </a:r>
                      <a:endParaRPr lang="en-US" sz="1400" dirty="0"/>
                    </a:p>
                  </a:txBody>
                  <a:tcPr marL="109728" marR="109728"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bg1"/>
                          </a:solidFill>
                        </a:rPr>
                        <a:t>Supported</a:t>
                      </a:r>
                      <a:endParaRPr lang="en-US" sz="1300" dirty="0"/>
                    </a:p>
                  </a:txBody>
                  <a:tcPr marL="109728" marR="109728"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400" dirty="0">
                          <a:solidFill>
                            <a:schemeClr val="tx1"/>
                          </a:solidFill>
                        </a:rPr>
                        <a:t>tumor-tcell, simbio, covasim verified</a:t>
                      </a:r>
                      <a:endParaRPr lang="en-US" sz="1400" dirty="0"/>
                    </a:p>
                  </a:txBody>
                  <a:tcPr marL="109728" marR="109728"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r>
              <a:tr h="475488">
                <a:tc>
                  <a:txBody>
                    <a:bodyPr/>
                    <a:lstStyle/>
                    <a:p>
                      <a:pPr indent="0" marL="0">
                        <a:buNone/>
                      </a:pPr>
                      <a:r>
                        <a:rPr lang="en-US" sz="1400" dirty="0">
                          <a:solidFill>
                            <a:schemeClr val="tx1"/>
                          </a:solidFill>
                        </a:rPr>
                        <a:t>Python with native build deps (apt headers, C++)</a:t>
                      </a:r>
                      <a:endParaRPr lang="en-US" sz="1400" dirty="0"/>
                    </a:p>
                  </a:txBody>
                  <a:tcPr marL="109728" marR="109728"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bg1"/>
                          </a:solidFill>
                        </a:rPr>
                        <a:t>Supported</a:t>
                      </a:r>
                      <a:endParaRPr lang="en-US" sz="1300" dirty="0"/>
                    </a:p>
                  </a:txBody>
                  <a:tcPr marL="109728" marR="109728"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6"/>
                    </a:solidFill>
                  </a:tcPr>
                </a:tc>
                <a:tc>
                  <a:txBody>
                    <a:bodyPr/>
                    <a:lstStyle/>
                    <a:p>
                      <a:pPr indent="0" marL="0">
                        <a:buNone/>
                      </a:pPr>
                      <a:r>
                        <a:rPr lang="en-US" sz="1400" dirty="0">
                          <a:solidFill>
                            <a:schemeClr val="tx1"/>
                          </a:solidFill>
                        </a:rPr>
                        <a:t>AMICI verified; header-to-apt rules</a:t>
                      </a:r>
                      <a:endParaRPr lang="en-US" sz="1400" dirty="0"/>
                    </a:p>
                  </a:txBody>
                  <a:tcPr marL="109728" marR="109728"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r>
              <a:tr h="475488">
                <a:tc>
                  <a:txBody>
                    <a:bodyPr/>
                    <a:lstStyle/>
                    <a:p>
                      <a:pPr indent="0" marL="0">
                        <a:buNone/>
                      </a:pPr>
                      <a:r>
                        <a:rPr lang="en-US" sz="1400" dirty="0">
                          <a:solidFill>
                            <a:schemeClr val="tx1"/>
                          </a:solidFill>
                        </a:rPr>
                        <a:t>Conda environment.yml</a:t>
                      </a:r>
                      <a:endParaRPr lang="en-US" sz="1400" dirty="0"/>
                    </a:p>
                  </a:txBody>
                  <a:tcPr marL="109728" marR="109728"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tx1"/>
                          </a:solidFill>
                        </a:rPr>
                        <a:t>Partial</a:t>
                      </a:r>
                      <a:endParaRPr lang="en-US" sz="1300" dirty="0"/>
                    </a:p>
                  </a:txBody>
                  <a:tcPr marL="109728" marR="109728"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2"/>
                    </a:solidFill>
                  </a:tcPr>
                </a:tc>
                <a:tc>
                  <a:txBody>
                    <a:bodyPr/>
                    <a:lstStyle/>
                    <a:p>
                      <a:pPr indent="0" marL="0">
                        <a:buNone/>
                      </a:pPr>
                      <a:r>
                        <a:rPr lang="en-US" sz="1400" dirty="0">
                          <a:solidFill>
                            <a:schemeClr val="tx1"/>
                          </a:solidFill>
                        </a:rPr>
                        <a:t>micromamba base; conda-style R names unsolved</a:t>
                      </a:r>
                      <a:endParaRPr lang="en-US" sz="1400" dirty="0"/>
                    </a:p>
                  </a:txBody>
                  <a:tcPr marL="109728" marR="109728"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r>
              <a:tr h="475488">
                <a:tc>
                  <a:txBody>
                    <a:bodyPr/>
                    <a:lstStyle/>
                    <a:p>
                      <a:pPr indent="0" marL="0">
                        <a:buNone/>
                      </a:pPr>
                      <a:r>
                        <a:rPr lang="en-US" sz="1400" dirty="0">
                          <a:solidFill>
                            <a:schemeClr val="tx1"/>
                          </a:solidFill>
                        </a:rPr>
                        <a:t>R packages (DESCRIPTION, renv)</a:t>
                      </a:r>
                      <a:endParaRPr lang="en-US" sz="1400" dirty="0"/>
                    </a:p>
                  </a:txBody>
                  <a:tcPr marL="109728" marR="109728"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tx1"/>
                          </a:solidFill>
                        </a:rPr>
                        <a:t>Partial</a:t>
                      </a:r>
                      <a:endParaRPr lang="en-US" sz="1300" dirty="0"/>
                    </a:p>
                  </a:txBody>
                  <a:tcPr marL="109728" marR="109728"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2"/>
                    </a:solidFill>
                  </a:tcPr>
                </a:tc>
                <a:tc>
                  <a:txBody>
                    <a:bodyPr/>
                    <a:lstStyle/>
                    <a:p>
                      <a:pPr indent="0" marL="0">
                        <a:buNone/>
                      </a:pPr>
                      <a:r>
                        <a:rPr lang="en-US" sz="1400" dirty="0">
                          <a:solidFill>
                            <a:schemeClr val="tx1"/>
                          </a:solidFill>
                        </a:rPr>
                        <a:t>Builds; CRAN source compile over 600 s escalates</a:t>
                      </a:r>
                      <a:endParaRPr lang="en-US" sz="1400" dirty="0"/>
                    </a:p>
                  </a:txBody>
                  <a:tcPr marL="109728" marR="109728"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r>
              <a:tr h="475488">
                <a:tc>
                  <a:txBody>
                    <a:bodyPr/>
                    <a:lstStyle/>
                    <a:p>
                      <a:pPr indent="0" marL="0">
                        <a:buNone/>
                      </a:pPr>
                      <a:r>
                        <a:rPr lang="en-US" sz="1400" dirty="0">
                          <a:solidFill>
                            <a:schemeClr val="tx1"/>
                          </a:solidFill>
                        </a:rPr>
                        <a:t>Compiled binary via make or CMake</a:t>
                      </a:r>
                      <a:endParaRPr lang="en-US" sz="1400" dirty="0"/>
                    </a:p>
                  </a:txBody>
                  <a:tcPr marL="109728" marR="109728"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bg1"/>
                          </a:solidFill>
                        </a:rPr>
                        <a:t>Not yet</a:t>
                      </a:r>
                      <a:endParaRPr lang="en-US" sz="1300" dirty="0"/>
                    </a:p>
                  </a:txBody>
                  <a:tcPr marL="109728" marR="109728"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3"/>
                    </a:solidFill>
                  </a:tcPr>
                </a:tc>
                <a:tc>
                  <a:txBody>
                    <a:bodyPr/>
                    <a:lstStyle/>
                    <a:p>
                      <a:pPr indent="0" marL="0">
                        <a:buNone/>
                      </a:pPr>
                      <a:r>
                        <a:rPr lang="en-US" sz="1400" dirty="0">
                          <a:solidFill>
                            <a:schemeClr val="tx1"/>
                          </a:solidFill>
                        </a:rPr>
                        <a:t>PhysiCell, covid-sim</a:t>
                      </a:r>
                      <a:endParaRPr lang="en-US" sz="1400" dirty="0"/>
                    </a:p>
                  </a:txBody>
                  <a:tcPr marL="109728" marR="109728"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r>
              <a:tr h="475488">
                <a:tc>
                  <a:txBody>
                    <a:bodyPr/>
                    <a:lstStyle/>
                    <a:p>
                      <a:pPr indent="0" marL="0">
                        <a:buNone/>
                      </a:pPr>
                      <a:r>
                        <a:rPr lang="en-US" sz="1400" dirty="0">
                          <a:solidFill>
                            <a:schemeClr val="tx1"/>
                          </a:solidFill>
                        </a:rPr>
                        <a:t>Second runtime or other toolchain (Node, Julia)</a:t>
                      </a:r>
                      <a:endParaRPr lang="en-US" sz="1400" dirty="0"/>
                    </a:p>
                  </a:txBody>
                  <a:tcPr marL="109728" marR="109728"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bg1"/>
                          </a:solidFill>
                        </a:rPr>
                        <a:t>Escalates</a:t>
                      </a:r>
                      <a:endParaRPr lang="en-US" sz="1300" dirty="0"/>
                    </a:p>
                  </a:txBody>
                  <a:tcPr marL="109728" marR="109728"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3"/>
                    </a:solidFill>
                  </a:tcPr>
                </a:tc>
                <a:tc>
                  <a:txBody>
                    <a:bodyPr/>
                    <a:lstStyle/>
                    <a:p>
                      <a:pPr indent="0" marL="0">
                        <a:buNone/>
                      </a:pPr>
                      <a:r>
                        <a:rPr lang="en-US" sz="1400" dirty="0">
                          <a:solidFill>
                            <a:schemeClr val="tx1"/>
                          </a:solidFill>
                        </a:rPr>
                        <a:t>artistoo (Node); Julia is the control</a:t>
                      </a:r>
                      <a:endParaRPr lang="en-US" sz="1400" dirty="0"/>
                    </a:p>
                  </a:txBody>
                  <a:tcPr marL="109728" marR="109728"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r>
              <a:tr h="475488">
                <a:tc>
                  <a:txBody>
                    <a:bodyPr/>
                    <a:lstStyle/>
                    <a:p>
                      <a:pPr indent="0" marL="0">
                        <a:buNone/>
                      </a:pPr>
                      <a:r>
                        <a:rPr lang="en-US" sz="1400" dirty="0">
                          <a:solidFill>
                            <a:schemeClr val="tx1"/>
                          </a:solidFill>
                        </a:rPr>
                        <a:t>Git-sourced dependencies</a:t>
                      </a:r>
                      <a:endParaRPr lang="en-US" sz="1400" dirty="0"/>
                    </a:p>
                  </a:txBody>
                  <a:tcPr marL="109728" marR="109728"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bg1"/>
                          </a:solidFill>
                        </a:rPr>
                        <a:t>Escalates</a:t>
                      </a:r>
                      <a:endParaRPr lang="en-US" sz="1300" dirty="0"/>
                    </a:p>
                  </a:txBody>
                  <a:tcPr marL="109728" marR="109728"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3"/>
                    </a:solidFill>
                  </a:tcPr>
                </a:tc>
                <a:tc>
                  <a:txBody>
                    <a:bodyPr/>
                    <a:lstStyle/>
                    <a:p>
                      <a:pPr indent="0" marL="0">
                        <a:buNone/>
                      </a:pPr>
                      <a:r>
                        <a:rPr lang="en-US" sz="1400" dirty="0">
                          <a:solidFill>
                            <a:schemeClr val="tx1"/>
                          </a:solidFill>
                        </a:rPr>
                        <a:t>mgen, membrane-actin-composite</a:t>
                      </a:r>
                      <a:endParaRPr lang="en-US" sz="1400" dirty="0"/>
                    </a:p>
                  </a:txBody>
                  <a:tcPr marL="109728" marR="109728"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r>
              <a:tr h="475488">
                <a:tc>
                  <a:txBody>
                    <a:bodyPr/>
                    <a:lstStyle/>
                    <a:p>
                      <a:pPr indent="0" marL="0">
                        <a:buNone/>
                      </a:pPr>
                      <a:r>
                        <a:rPr lang="en-US" sz="1400" dirty="0">
                          <a:solidFill>
                            <a:schemeClr val="tx1"/>
                          </a:solidFill>
                        </a:rPr>
                        <a:t>Run-time downloads (needs network)</a:t>
                      </a:r>
                      <a:endParaRPr lang="en-US" sz="1400" dirty="0"/>
                    </a:p>
                  </a:txBody>
                  <a:tcPr marL="109728" marR="109728"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bg1"/>
                          </a:solidFill>
                        </a:rPr>
                        <a:t>Impossible</a:t>
                      </a:r>
                      <a:endParaRPr lang="en-US" sz="1300" dirty="0"/>
                    </a:p>
                  </a:txBody>
                  <a:tcPr marL="109728" marR="109728"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accent3"/>
                    </a:solidFill>
                  </a:tcPr>
                </a:tc>
                <a:tc>
                  <a:txBody>
                    <a:bodyPr/>
                    <a:lstStyle/>
                    <a:p>
                      <a:pPr indent="0" marL="0">
                        <a:buNone/>
                      </a:pPr>
                      <a:r>
                        <a:rPr lang="en-US" sz="1400" dirty="0">
                          <a:solidFill>
                            <a:schemeClr val="tx1"/>
                          </a:solidFill>
                        </a:rPr>
                        <a:t>Verification is network-denied by design</a:t>
                      </a:r>
                      <a:endParaRPr lang="en-US" sz="1400" dirty="0"/>
                    </a:p>
                  </a:txBody>
                  <a:tcPr marL="109728" marR="109728" marT="27432" marB="27432"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2"/>
                    </a:solidFill>
                  </a:tcPr>
                </a:tc>
              </a:tr>
            </a:tbl>
          </a:graphicData>
        </a:graphic>
      </p:graphicFrame>
      <p:sp>
        <p:nvSpPr>
          <p:cNvPr id="4" name="Text 1"/>
          <p:cNvSpPr txBox="1"/>
          <p:nvPr/>
        </p:nvSpPr>
        <p:spPr>
          <a:xfrm>
            <a:off x="548640" y="5852160"/>
            <a:ext cx="11064240" cy="457200"/>
          </a:xfrm>
          <a:prstGeom prst="rect">
            <a:avLst/>
          </a:prstGeom>
          <a:noFill/>
          <a:ln/>
        </p:spPr>
        <p:txBody>
          <a:bodyPr wrap="square" lIns="0" tIns="0" rIns="0" bIns="0" rtlCol="0" anchor="t"/>
          <a:lstStyle/>
          <a:p>
            <a:pPr indent="0" marL="0">
              <a:buNone/>
            </a:pPr>
            <a:r>
              <a:rPr lang="en-US" sz="1200" dirty="0">
                <a:solidFill>
                  <a:schemeClr val="accent5"/>
                </a:solidFill>
              </a:rPr>
              <a:t>Evidence is 20 unseen repos at pinned shas, run with repo evidence only (19 had no annotation). A reviewed annotation should help; that is not measured yet.</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808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rgbClr val="0F2A33"/>
                </a:solidFill>
              </a:rPr>
              <a:t>Measured on 20 unseen models</a:t>
            </a:r>
            <a:endParaRPr lang="en-US" sz="3400" dirty="0"/>
          </a:p>
        </p:txBody>
      </p:sp>
      <p:graphicFrame>
        <p:nvGraphicFramePr>
          <p:cNvPr id="3" name="Chart 0" descr=""/>
          <p:cNvGraphicFramePr/>
          <p:nvPr/>
        </p:nvGraphicFramePr>
        <p:xfrm>
          <a:off x="548640" y="1463040"/>
          <a:ext cx="6309360" cy="4206240"/>
        </p:xfrm>
        <a:graphic xmlns:a="http://schemas.openxmlformats.org/drawingml/2006/main">
          <a:graphicData uri="http://schemas.openxmlformats.org/drawingml/2006/chart">
            <c:chart xmlns:c="http://schemas.openxmlformats.org/drawingml/2006/chart" r:id="rId1"/>
          </a:graphicData>
        </a:graphic>
      </p:graphicFrame>
      <p:sp>
        <p:nvSpPr>
          <p:cNvPr id="4" name="stat-0"/>
          <p:cNvSpPr/>
          <p:nvPr/>
        </p:nvSpPr>
        <p:spPr>
          <a:xfrm>
            <a:off x="7223760" y="1463040"/>
            <a:ext cx="4389120" cy="1280160"/>
          </a:xfrm>
          <a:prstGeom prst="roundRect">
            <a:avLst>
              <a:gd name="adj" fmla="val 5714"/>
            </a:avLst>
          </a:prstGeom>
          <a:solidFill>
            <a:schemeClr val="bg2"/>
          </a:solidFill>
          <a:ln/>
          <a:effectLst>
            <a:outerShdw sx="100000" sy="100000" kx="0" ky="0" algn="bl" rotWithShape="0" blurRad="76200" dist="25400" dir="5400000">
              <a:srgbClr val="0F2A33">
                <a:alpha val="12000"/>
              </a:srgbClr>
            </a:outerShdw>
          </a:effectLst>
        </p:spPr>
      </p:sp>
      <p:sp>
        <p:nvSpPr>
          <p:cNvPr id="5" name="Text 2"/>
          <p:cNvSpPr txBox="1"/>
          <p:nvPr/>
        </p:nvSpPr>
        <p:spPr>
          <a:xfrm>
            <a:off x="7406640" y="1554480"/>
            <a:ext cx="1828800" cy="109728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4 of 19</a:t>
            </a:r>
            <a:endParaRPr lang="en-US" sz="3600" dirty="0"/>
          </a:p>
        </p:txBody>
      </p:sp>
      <p:sp>
        <p:nvSpPr>
          <p:cNvPr id="6" name="Text 3"/>
          <p:cNvSpPr txBox="1"/>
          <p:nvPr/>
        </p:nvSpPr>
        <p:spPr>
          <a:xfrm>
            <a:off x="9326880" y="1554480"/>
            <a:ext cx="2148840" cy="1097280"/>
          </a:xfrm>
          <a:prstGeom prst="rect">
            <a:avLst/>
          </a:prstGeom>
          <a:noFill/>
          <a:ln/>
        </p:spPr>
        <p:txBody>
          <a:bodyPr wrap="square" lIns="0" tIns="0" rIns="0" bIns="0" rtlCol="0" anchor="ctr"/>
          <a:lstStyle/>
          <a:p>
            <a:pPr indent="0" marL="0">
              <a:buNone/>
            </a:pPr>
            <a:r>
              <a:rPr lang="en-US" sz="1400" dirty="0">
                <a:solidFill>
                  <a:schemeClr val="tx1"/>
                </a:solidFill>
              </a:rPr>
              <a:t>stable verified rate, identical in passes 3 and 4</a:t>
            </a:r>
            <a:endParaRPr lang="en-US" sz="1400" dirty="0"/>
          </a:p>
        </p:txBody>
      </p:sp>
      <p:sp>
        <p:nvSpPr>
          <p:cNvPr id="7" name="stat-1"/>
          <p:cNvSpPr/>
          <p:nvPr/>
        </p:nvSpPr>
        <p:spPr>
          <a:xfrm>
            <a:off x="7223760" y="2880360"/>
            <a:ext cx="4389120" cy="1280160"/>
          </a:xfrm>
          <a:prstGeom prst="roundRect">
            <a:avLst>
              <a:gd name="adj" fmla="val 5714"/>
            </a:avLst>
          </a:prstGeom>
          <a:solidFill>
            <a:schemeClr val="bg2"/>
          </a:solidFill>
          <a:ln/>
          <a:effectLst>
            <a:outerShdw sx="100000" sy="100000" kx="0" ky="0" algn="bl" rotWithShape="0" blurRad="76200" dist="25400" dir="5400000">
              <a:srgbClr val="0F2A33">
                <a:alpha val="12000"/>
              </a:srgbClr>
            </a:outerShdw>
          </a:effectLst>
        </p:spPr>
      </p:sp>
      <p:sp>
        <p:nvSpPr>
          <p:cNvPr id="8" name="Text 5"/>
          <p:cNvSpPr txBox="1"/>
          <p:nvPr/>
        </p:nvSpPr>
        <p:spPr>
          <a:xfrm>
            <a:off x="7406640" y="2971800"/>
            <a:ext cx="1828800" cy="1097280"/>
          </a:xfrm>
          <a:prstGeom prst="rect">
            <a:avLst/>
          </a:prstGeom>
          <a:noFill/>
          <a:ln/>
        </p:spPr>
        <p:txBody>
          <a:bodyPr wrap="square" lIns="0" tIns="0" rIns="0" bIns="0" rtlCol="0" anchor="ctr"/>
          <a:lstStyle/>
          <a:p>
            <a:pPr indent="0" marL="0">
              <a:buNone/>
            </a:pPr>
            <a:r>
              <a:rPr lang="en-US" sz="3600" b="1" dirty="0">
                <a:solidFill>
                  <a:schemeClr val="accent6"/>
                </a:solidFill>
                <a:latin typeface="Cambria" pitchFamily="34" charset="0"/>
                <a:ea typeface="Cambria" pitchFamily="34" charset="-122"/>
                <a:cs typeface="Cambria" pitchFamily="34" charset="-120"/>
              </a:rPr>
              <a:t>0</a:t>
            </a:r>
            <a:endParaRPr lang="en-US" sz="3600" dirty="0"/>
          </a:p>
        </p:txBody>
      </p:sp>
      <p:sp>
        <p:nvSpPr>
          <p:cNvPr id="9" name="Text 6"/>
          <p:cNvSpPr txBox="1"/>
          <p:nvPr/>
        </p:nvSpPr>
        <p:spPr>
          <a:xfrm>
            <a:off x="9326880" y="2971800"/>
            <a:ext cx="2148840" cy="1097280"/>
          </a:xfrm>
          <a:prstGeom prst="rect">
            <a:avLst/>
          </a:prstGeom>
          <a:noFill/>
          <a:ln/>
        </p:spPr>
        <p:txBody>
          <a:bodyPr wrap="square" lIns="0" tIns="0" rIns="0" bIns="0" rtlCol="0" anchor="ctr"/>
          <a:lstStyle/>
          <a:p>
            <a:pPr indent="0" marL="0">
              <a:buNone/>
            </a:pPr>
            <a:r>
              <a:rPr lang="en-US" sz="1400" dirty="0">
                <a:solidFill>
                  <a:schemeClr val="tx1"/>
                </a:solidFill>
              </a:rPr>
              <a:t>false-verified results in all four passes</a:t>
            </a:r>
            <a:endParaRPr lang="en-US" sz="1400" dirty="0"/>
          </a:p>
        </p:txBody>
      </p:sp>
      <p:sp>
        <p:nvSpPr>
          <p:cNvPr id="10" name="stat-2"/>
          <p:cNvSpPr/>
          <p:nvPr/>
        </p:nvSpPr>
        <p:spPr>
          <a:xfrm>
            <a:off x="7223760" y="4297680"/>
            <a:ext cx="4389120" cy="1280160"/>
          </a:xfrm>
          <a:prstGeom prst="roundRect">
            <a:avLst>
              <a:gd name="adj" fmla="val 5714"/>
            </a:avLst>
          </a:prstGeom>
          <a:solidFill>
            <a:schemeClr val="bg2"/>
          </a:solidFill>
          <a:ln/>
          <a:effectLst>
            <a:outerShdw sx="100000" sy="100000" kx="0" ky="0" algn="bl" rotWithShape="0" blurRad="76200" dist="25400" dir="5400000">
              <a:srgbClr val="0F2A33">
                <a:alpha val="12000"/>
              </a:srgbClr>
            </a:outerShdw>
          </a:effectLst>
        </p:spPr>
      </p:sp>
      <p:sp>
        <p:nvSpPr>
          <p:cNvPr id="11" name="Text 8"/>
          <p:cNvSpPr txBox="1"/>
          <p:nvPr/>
        </p:nvSpPr>
        <p:spPr>
          <a:xfrm>
            <a:off x="7406640" y="4389120"/>
            <a:ext cx="1828800" cy="1097280"/>
          </a:xfrm>
          <a:prstGeom prst="rect">
            <a:avLst/>
          </a:prstGeom>
          <a:noFill/>
          <a:ln/>
        </p:spPr>
        <p:txBody>
          <a:bodyPr wrap="square" lIns="0" tIns="0" rIns="0" bIns="0" rtlCol="0" anchor="ctr"/>
          <a:lstStyle/>
          <a:p>
            <a:pPr indent="0" marL="0">
              <a:buNone/>
            </a:pPr>
            <a:r>
              <a:rPr lang="en-US" sz="3600" b="1" dirty="0">
                <a:solidFill>
                  <a:schemeClr val="accent4"/>
                </a:solidFill>
                <a:latin typeface="Cambria" pitchFamily="34" charset="0"/>
                <a:ea typeface="Cambria" pitchFamily="34" charset="-122"/>
                <a:cs typeface="Cambria" pitchFamily="34" charset="-120"/>
              </a:rPr>
              <a:t>4 of 5</a:t>
            </a:r>
            <a:endParaRPr lang="en-US" sz="3600" dirty="0"/>
          </a:p>
        </p:txBody>
      </p:sp>
      <p:sp>
        <p:nvSpPr>
          <p:cNvPr id="12" name="Text 9"/>
          <p:cNvSpPr txBox="1"/>
          <p:nvPr/>
        </p:nvSpPr>
        <p:spPr>
          <a:xfrm>
            <a:off x="9326880" y="4389120"/>
            <a:ext cx="2148840" cy="1097280"/>
          </a:xfrm>
          <a:prstGeom prst="rect">
            <a:avLst/>
          </a:prstGeom>
          <a:noFill/>
          <a:ln/>
        </p:spPr>
        <p:txBody>
          <a:bodyPr wrap="square" lIns="0" tIns="0" rIns="0" bIns="0" rtlCol="0" anchor="ctr"/>
          <a:lstStyle/>
          <a:p>
            <a:pPr indent="0" marL="0">
              <a:buNone/>
            </a:pPr>
            <a:r>
              <a:rPr lang="en-US" sz="1400" dirty="0">
                <a:solidFill>
                  <a:schemeClr val="tx1"/>
                </a:solidFill>
              </a:rPr>
              <a:t>buildable models verified in the tuning corpus</a:t>
            </a:r>
            <a:endParaRPr lang="en-US" sz="1400" dirty="0"/>
          </a:p>
        </p:txBody>
      </p:sp>
      <p:sp>
        <p:nvSpPr>
          <p:cNvPr id="13" name="Text 10"/>
          <p:cNvSpPr txBox="1"/>
          <p:nvPr/>
        </p:nvSpPr>
        <p:spPr>
          <a:xfrm>
            <a:off x="548640" y="5760720"/>
            <a:ext cx="11064240" cy="548640"/>
          </a:xfrm>
          <a:prstGeom prst="rect">
            <a:avLst/>
          </a:prstGeom>
          <a:noFill/>
          <a:ln/>
        </p:spPr>
        <p:txBody>
          <a:bodyPr wrap="square" lIns="0" tIns="0" rIns="0" bIns="0" rtlCol="0" anchor="t"/>
          <a:lstStyle/>
          <a:p>
            <a:pPr indent="0" marL="0">
              <a:buNone/>
            </a:pPr>
            <a:r>
              <a:rPr lang="en-US" sz="1200" dirty="0">
                <a:solidFill>
                  <a:schemeClr val="accent5"/>
                </a:solidFill>
              </a:rPr>
              <a:t>Each pass fixed harness bugs found in the one before; no per-model fixes. The dip in pass 4 is two pass-3 verifications that did not reproduce: one was a run attributed to the wrong command. Pass 4 verdicts are the honest ones.</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808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rgbClr val="0F2A33"/>
                </a:solidFill>
              </a:rPr>
              <a:t>Where it stops, on purpose</a:t>
            </a:r>
            <a:endParaRPr lang="en-US" sz="3400" dirty="0"/>
          </a:p>
        </p:txBody>
      </p:sp>
      <p:sp>
        <p:nvSpPr>
          <p:cNvPr id="3" name="gap-0"/>
          <p:cNvSpPr/>
          <p:nvPr/>
        </p:nvSpPr>
        <p:spPr>
          <a:xfrm>
            <a:off x="548640" y="1463040"/>
            <a:ext cx="2651760" cy="2194560"/>
          </a:xfrm>
          <a:prstGeom prst="roundRect">
            <a:avLst>
              <a:gd name="adj" fmla="val 3333"/>
            </a:avLst>
          </a:prstGeom>
          <a:solidFill>
            <a:schemeClr val="bg2"/>
          </a:solidFill>
          <a:ln/>
          <a:effectLst>
            <a:outerShdw sx="100000" sy="100000" kx="0" ky="0" algn="bl" rotWithShape="0" blurRad="76200" dist="25400" dir="5400000">
              <a:srgbClr val="0F2A33">
                <a:alpha val="12000"/>
              </a:srgbClr>
            </a:outerShdw>
          </a:effectLst>
        </p:spPr>
      </p:sp>
      <p:sp>
        <p:nvSpPr>
          <p:cNvPr id="4" name="Text 2"/>
          <p:cNvSpPr txBox="1"/>
          <p:nvPr/>
        </p:nvSpPr>
        <p:spPr>
          <a:xfrm>
            <a:off x="731520" y="1600200"/>
            <a:ext cx="2286000" cy="548640"/>
          </a:xfrm>
          <a:prstGeom prst="rect">
            <a:avLst/>
          </a:prstGeom>
          <a:noFill/>
          <a:ln/>
        </p:spPr>
        <p:txBody>
          <a:bodyPr wrap="square" lIns="0" tIns="0" rIns="0" bIns="0" rtlCol="0" anchor="t"/>
          <a:lstStyle/>
          <a:p>
            <a:pPr indent="0" marL="0">
              <a:buNone/>
            </a:pPr>
            <a:r>
              <a:rPr lang="en-US" sz="1600" b="1" dirty="0">
                <a:solidFill>
                  <a:schemeClr val="accent3"/>
                </a:solidFill>
              </a:rPr>
              <a:t>Git-sourced dependencies</a:t>
            </a:r>
            <a:endParaRPr lang="en-US" sz="1600" dirty="0"/>
          </a:p>
        </p:txBody>
      </p:sp>
      <p:sp>
        <p:nvSpPr>
          <p:cNvPr id="5" name="Text 3"/>
          <p:cNvSpPr txBox="1"/>
          <p:nvPr/>
        </p:nvSpPr>
        <p:spPr>
          <a:xfrm>
            <a:off x="731520" y="2194560"/>
            <a:ext cx="2286000" cy="914400"/>
          </a:xfrm>
          <a:prstGeom prst="rect">
            <a:avLst/>
          </a:prstGeom>
          <a:noFill/>
          <a:ln/>
        </p:spPr>
        <p:txBody>
          <a:bodyPr wrap="square" lIns="0" tIns="0" rIns="0" bIns="0" rtlCol="0" anchor="t"/>
          <a:lstStyle/>
          <a:p>
            <a:pPr indent="0" marL="0">
              <a:buNone/>
            </a:pPr>
            <a:r>
              <a:rPr lang="en-US" sz="1400" dirty="0">
                <a:solidFill>
                  <a:schemeClr val="tx1"/>
                </a:solidFill>
              </a:rPr>
              <a:t>Siblings installed from VCS cannot be resolved by this revision</a:t>
            </a:r>
            <a:endParaRPr lang="en-US" sz="1400" dirty="0"/>
          </a:p>
        </p:txBody>
      </p:sp>
      <p:sp>
        <p:nvSpPr>
          <p:cNvPr id="6" name="Text 4"/>
          <p:cNvSpPr txBox="1"/>
          <p:nvPr/>
        </p:nvSpPr>
        <p:spPr>
          <a:xfrm>
            <a:off x="731520" y="3200400"/>
            <a:ext cx="2286000" cy="274320"/>
          </a:xfrm>
          <a:prstGeom prst="rect">
            <a:avLst/>
          </a:prstGeom>
          <a:noFill/>
          <a:ln/>
        </p:spPr>
        <p:txBody>
          <a:bodyPr wrap="square" lIns="0" tIns="0" rIns="0" bIns="0" rtlCol="0" anchor="t"/>
          <a:lstStyle/>
          <a:p>
            <a:pPr indent="0" marL="0">
              <a:buNone/>
            </a:pPr>
            <a:r>
              <a:rPr lang="en-US" sz="1200" i="1" dirty="0">
                <a:solidFill>
                  <a:schemeClr val="accent5"/>
                </a:solidFill>
              </a:rPr>
              <a:t>mgen, membrane-actin</a:t>
            </a:r>
            <a:endParaRPr lang="en-US" sz="1200" dirty="0"/>
          </a:p>
        </p:txBody>
      </p:sp>
      <p:sp>
        <p:nvSpPr>
          <p:cNvPr id="7" name="gap-1"/>
          <p:cNvSpPr/>
          <p:nvPr/>
        </p:nvSpPr>
        <p:spPr>
          <a:xfrm>
            <a:off x="3353105" y="1463040"/>
            <a:ext cx="2651760" cy="2194560"/>
          </a:xfrm>
          <a:prstGeom prst="roundRect">
            <a:avLst>
              <a:gd name="adj" fmla="val 3333"/>
            </a:avLst>
          </a:prstGeom>
          <a:solidFill>
            <a:schemeClr val="bg2"/>
          </a:solidFill>
          <a:ln/>
          <a:effectLst>
            <a:outerShdw sx="100000" sy="100000" kx="0" ky="0" algn="bl" rotWithShape="0" blurRad="76200" dist="25400" dir="5400000">
              <a:srgbClr val="0F2A33">
                <a:alpha val="12000"/>
              </a:srgbClr>
            </a:outerShdw>
          </a:effectLst>
        </p:spPr>
      </p:sp>
      <p:sp>
        <p:nvSpPr>
          <p:cNvPr id="8" name="Text 6"/>
          <p:cNvSpPr txBox="1"/>
          <p:nvPr/>
        </p:nvSpPr>
        <p:spPr>
          <a:xfrm>
            <a:off x="3535985" y="1600200"/>
            <a:ext cx="2286000" cy="548640"/>
          </a:xfrm>
          <a:prstGeom prst="rect">
            <a:avLst/>
          </a:prstGeom>
          <a:noFill/>
          <a:ln/>
        </p:spPr>
        <p:txBody>
          <a:bodyPr wrap="square" lIns="0" tIns="0" rIns="0" bIns="0" rtlCol="0" anchor="t"/>
          <a:lstStyle/>
          <a:p>
            <a:pPr indent="0" marL="0">
              <a:buNone/>
            </a:pPr>
            <a:r>
              <a:rPr lang="en-US" sz="1600" b="1" dirty="0">
                <a:solidFill>
                  <a:schemeClr val="accent3"/>
                </a:solidFill>
              </a:rPr>
              <a:t>Compiled C++ binary</a:t>
            </a:r>
            <a:endParaRPr lang="en-US" sz="1600" dirty="0"/>
          </a:p>
        </p:txBody>
      </p:sp>
      <p:sp>
        <p:nvSpPr>
          <p:cNvPr id="9" name="Text 7"/>
          <p:cNvSpPr txBox="1"/>
          <p:nvPr/>
        </p:nvSpPr>
        <p:spPr>
          <a:xfrm>
            <a:off x="3535985" y="2194560"/>
            <a:ext cx="2286000" cy="914400"/>
          </a:xfrm>
          <a:prstGeom prst="rect">
            <a:avLst/>
          </a:prstGeom>
          <a:noFill/>
          <a:ln/>
        </p:spPr>
        <p:txBody>
          <a:bodyPr wrap="square" lIns="0" tIns="0" rIns="0" bIns="0" rtlCol="0" anchor="t"/>
          <a:lstStyle/>
          <a:p>
            <a:pPr indent="0" marL="0">
              <a:buNone/>
            </a:pPr>
            <a:r>
              <a:rPr lang="en-US" sz="1400" dirty="0">
                <a:solidFill>
                  <a:schemeClr val="tx1"/>
                </a:solidFill>
              </a:rPr>
              <a:t>Entry runs a binary that must be built first</a:t>
            </a:r>
            <a:endParaRPr lang="en-US" sz="1400" dirty="0"/>
          </a:p>
        </p:txBody>
      </p:sp>
      <p:sp>
        <p:nvSpPr>
          <p:cNvPr id="10" name="Text 8"/>
          <p:cNvSpPr txBox="1"/>
          <p:nvPr/>
        </p:nvSpPr>
        <p:spPr>
          <a:xfrm>
            <a:off x="3535985" y="3200400"/>
            <a:ext cx="2286000" cy="274320"/>
          </a:xfrm>
          <a:prstGeom prst="rect">
            <a:avLst/>
          </a:prstGeom>
          <a:noFill/>
          <a:ln/>
        </p:spPr>
        <p:txBody>
          <a:bodyPr wrap="square" lIns="0" tIns="0" rIns="0" bIns="0" rtlCol="0" anchor="t"/>
          <a:lstStyle/>
          <a:p>
            <a:pPr indent="0" marL="0">
              <a:buNone/>
            </a:pPr>
            <a:r>
              <a:rPr lang="en-US" sz="1200" i="1" dirty="0">
                <a:solidFill>
                  <a:schemeClr val="accent5"/>
                </a:solidFill>
              </a:rPr>
              <a:t>covid-sim</a:t>
            </a:r>
            <a:endParaRPr lang="en-US" sz="1200" dirty="0"/>
          </a:p>
        </p:txBody>
      </p:sp>
      <p:sp>
        <p:nvSpPr>
          <p:cNvPr id="11" name="gap-2"/>
          <p:cNvSpPr/>
          <p:nvPr/>
        </p:nvSpPr>
        <p:spPr>
          <a:xfrm>
            <a:off x="6157570" y="1463040"/>
            <a:ext cx="2651760" cy="2194560"/>
          </a:xfrm>
          <a:prstGeom prst="roundRect">
            <a:avLst>
              <a:gd name="adj" fmla="val 3333"/>
            </a:avLst>
          </a:prstGeom>
          <a:solidFill>
            <a:schemeClr val="bg2"/>
          </a:solidFill>
          <a:ln/>
          <a:effectLst>
            <a:outerShdw sx="100000" sy="100000" kx="0" ky="0" algn="bl" rotWithShape="0" blurRad="76200" dist="25400" dir="5400000">
              <a:srgbClr val="0F2A33">
                <a:alpha val="12000"/>
              </a:srgbClr>
            </a:outerShdw>
          </a:effectLst>
        </p:spPr>
      </p:sp>
      <p:sp>
        <p:nvSpPr>
          <p:cNvPr id="12" name="Text 10"/>
          <p:cNvSpPr txBox="1"/>
          <p:nvPr/>
        </p:nvSpPr>
        <p:spPr>
          <a:xfrm>
            <a:off x="6340450" y="1600200"/>
            <a:ext cx="2286000" cy="548640"/>
          </a:xfrm>
          <a:prstGeom prst="rect">
            <a:avLst/>
          </a:prstGeom>
          <a:noFill/>
          <a:ln/>
        </p:spPr>
        <p:txBody>
          <a:bodyPr wrap="square" lIns="0" tIns="0" rIns="0" bIns="0" rtlCol="0" anchor="t"/>
          <a:lstStyle/>
          <a:p>
            <a:pPr indent="0" marL="0">
              <a:buNone/>
            </a:pPr>
            <a:r>
              <a:rPr lang="en-US" sz="1600" b="1" dirty="0">
                <a:solidFill>
                  <a:schemeClr val="accent3"/>
                </a:solidFill>
              </a:rPr>
              <a:t>Node second runtime</a:t>
            </a:r>
            <a:endParaRPr lang="en-US" sz="1600" dirty="0"/>
          </a:p>
        </p:txBody>
      </p:sp>
      <p:sp>
        <p:nvSpPr>
          <p:cNvPr id="13" name="Text 11"/>
          <p:cNvSpPr txBox="1"/>
          <p:nvPr/>
        </p:nvSpPr>
        <p:spPr>
          <a:xfrm>
            <a:off x="6340450" y="2194560"/>
            <a:ext cx="2286000" cy="914400"/>
          </a:xfrm>
          <a:prstGeom prst="rect">
            <a:avLst/>
          </a:prstGeom>
          <a:noFill/>
          <a:ln/>
        </p:spPr>
        <p:txBody>
          <a:bodyPr wrap="square" lIns="0" tIns="0" rIns="0" bIns="0" rtlCol="0" anchor="t"/>
          <a:lstStyle/>
          <a:p>
            <a:pPr indent="0" marL="0">
              <a:buNone/>
            </a:pPr>
            <a:r>
              <a:rPr lang="en-US" sz="1400" dirty="0">
                <a:solidFill>
                  <a:schemeClr val="tx1"/>
                </a:solidFill>
              </a:rPr>
              <a:t>Python wrapper shells out to node</a:t>
            </a:r>
            <a:endParaRPr lang="en-US" sz="1400" dirty="0"/>
          </a:p>
        </p:txBody>
      </p:sp>
      <p:sp>
        <p:nvSpPr>
          <p:cNvPr id="14" name="Text 12"/>
          <p:cNvSpPr txBox="1"/>
          <p:nvPr/>
        </p:nvSpPr>
        <p:spPr>
          <a:xfrm>
            <a:off x="6340450" y="3200400"/>
            <a:ext cx="2286000" cy="274320"/>
          </a:xfrm>
          <a:prstGeom prst="rect">
            <a:avLst/>
          </a:prstGeom>
          <a:noFill/>
          <a:ln/>
        </p:spPr>
        <p:txBody>
          <a:bodyPr wrap="square" lIns="0" tIns="0" rIns="0" bIns="0" rtlCol="0" anchor="t"/>
          <a:lstStyle/>
          <a:p>
            <a:pPr indent="0" marL="0">
              <a:buNone/>
            </a:pPr>
            <a:r>
              <a:rPr lang="en-US" sz="1200" i="1" dirty="0">
                <a:solidFill>
                  <a:schemeClr val="accent5"/>
                </a:solidFill>
              </a:rPr>
              <a:t>artistoo</a:t>
            </a:r>
            <a:endParaRPr lang="en-US" sz="1200" dirty="0"/>
          </a:p>
        </p:txBody>
      </p:sp>
      <p:sp>
        <p:nvSpPr>
          <p:cNvPr id="15" name="gap-3"/>
          <p:cNvSpPr/>
          <p:nvPr/>
        </p:nvSpPr>
        <p:spPr>
          <a:xfrm>
            <a:off x="8962034" y="1463040"/>
            <a:ext cx="2651760" cy="2194560"/>
          </a:xfrm>
          <a:prstGeom prst="roundRect">
            <a:avLst>
              <a:gd name="adj" fmla="val 3333"/>
            </a:avLst>
          </a:prstGeom>
          <a:solidFill>
            <a:schemeClr val="bg2"/>
          </a:solidFill>
          <a:ln/>
          <a:effectLst>
            <a:outerShdw sx="100000" sy="100000" kx="0" ky="0" algn="bl" rotWithShape="0" blurRad="76200" dist="25400" dir="5400000">
              <a:srgbClr val="0F2A33">
                <a:alpha val="12000"/>
              </a:srgbClr>
            </a:outerShdw>
          </a:effectLst>
        </p:spPr>
      </p:sp>
      <p:sp>
        <p:nvSpPr>
          <p:cNvPr id="16" name="Text 14"/>
          <p:cNvSpPr txBox="1"/>
          <p:nvPr/>
        </p:nvSpPr>
        <p:spPr>
          <a:xfrm>
            <a:off x="9144914" y="1600200"/>
            <a:ext cx="2286000" cy="548640"/>
          </a:xfrm>
          <a:prstGeom prst="rect">
            <a:avLst/>
          </a:prstGeom>
          <a:noFill/>
          <a:ln/>
        </p:spPr>
        <p:txBody>
          <a:bodyPr wrap="square" lIns="0" tIns="0" rIns="0" bIns="0" rtlCol="0" anchor="t"/>
          <a:lstStyle/>
          <a:p>
            <a:pPr indent="0" marL="0">
              <a:buNone/>
            </a:pPr>
            <a:r>
              <a:rPr lang="en-US" sz="1600" b="1" dirty="0">
                <a:solidFill>
                  <a:schemeClr val="accent3"/>
                </a:solidFill>
              </a:rPr>
              <a:t>Conda-style R names</a:t>
            </a:r>
            <a:endParaRPr lang="en-US" sz="1600" dirty="0"/>
          </a:p>
        </p:txBody>
      </p:sp>
      <p:sp>
        <p:nvSpPr>
          <p:cNvPr id="17" name="Text 15"/>
          <p:cNvSpPr txBox="1"/>
          <p:nvPr/>
        </p:nvSpPr>
        <p:spPr>
          <a:xfrm>
            <a:off x="9144914" y="2194560"/>
            <a:ext cx="2286000" cy="914400"/>
          </a:xfrm>
          <a:prstGeom prst="rect">
            <a:avLst/>
          </a:prstGeom>
          <a:noFill/>
          <a:ln/>
        </p:spPr>
        <p:txBody>
          <a:bodyPr wrap="square" lIns="0" tIns="0" rIns="0" bIns="0" rtlCol="0" anchor="t"/>
          <a:lstStyle/>
          <a:p>
            <a:pPr indent="0" marL="0">
              <a:buNone/>
            </a:pPr>
            <a:r>
              <a:rPr lang="en-US" sz="1400" dirty="0">
                <a:solidFill>
                  <a:schemeClr val="tx1"/>
                </a:solidFill>
              </a:rPr>
              <a:t>Package names from conda do not exist on CRAN</a:t>
            </a:r>
            <a:endParaRPr lang="en-US" sz="1400" dirty="0"/>
          </a:p>
        </p:txBody>
      </p:sp>
      <p:sp>
        <p:nvSpPr>
          <p:cNvPr id="18" name="Text 16"/>
          <p:cNvSpPr txBox="1"/>
          <p:nvPr/>
        </p:nvSpPr>
        <p:spPr>
          <a:xfrm>
            <a:off x="9144914" y="3200400"/>
            <a:ext cx="2286000" cy="274320"/>
          </a:xfrm>
          <a:prstGeom prst="rect">
            <a:avLst/>
          </a:prstGeom>
          <a:noFill/>
          <a:ln/>
        </p:spPr>
        <p:txBody>
          <a:bodyPr wrap="square" lIns="0" tIns="0" rIns="0" bIns="0" rtlCol="0" anchor="t"/>
          <a:lstStyle/>
          <a:p>
            <a:pPr indent="0" marL="0">
              <a:buNone/>
            </a:pPr>
            <a:r>
              <a:rPr lang="en-US" sz="1200" i="1" dirty="0">
                <a:solidFill>
                  <a:schemeClr val="accent5"/>
                </a:solidFill>
              </a:rPr>
              <a:t>covid19model</a:t>
            </a:r>
            <a:endParaRPr lang="en-US" sz="1200" dirty="0"/>
          </a:p>
        </p:txBody>
      </p:sp>
      <p:sp>
        <p:nvSpPr>
          <p:cNvPr id="19" name="gap-4"/>
          <p:cNvSpPr/>
          <p:nvPr/>
        </p:nvSpPr>
        <p:spPr>
          <a:xfrm>
            <a:off x="548640" y="3840480"/>
            <a:ext cx="2651760" cy="2194560"/>
          </a:xfrm>
          <a:prstGeom prst="roundRect">
            <a:avLst>
              <a:gd name="adj" fmla="val 3333"/>
            </a:avLst>
          </a:prstGeom>
          <a:solidFill>
            <a:schemeClr val="bg2"/>
          </a:solidFill>
          <a:ln/>
          <a:effectLst>
            <a:outerShdw sx="100000" sy="100000" kx="0" ky="0" algn="bl" rotWithShape="0" blurRad="76200" dist="25400" dir="5400000">
              <a:srgbClr val="0F2A33">
                <a:alpha val="12000"/>
              </a:srgbClr>
            </a:outerShdw>
          </a:effectLst>
        </p:spPr>
      </p:sp>
      <p:sp>
        <p:nvSpPr>
          <p:cNvPr id="20" name="Text 18"/>
          <p:cNvSpPr txBox="1"/>
          <p:nvPr/>
        </p:nvSpPr>
        <p:spPr>
          <a:xfrm>
            <a:off x="731520" y="3977640"/>
            <a:ext cx="2286000" cy="548640"/>
          </a:xfrm>
          <a:prstGeom prst="rect">
            <a:avLst/>
          </a:prstGeom>
          <a:noFill/>
          <a:ln/>
        </p:spPr>
        <p:txBody>
          <a:bodyPr wrap="square" lIns="0" tIns="0" rIns="0" bIns="0" rtlCol="0" anchor="t"/>
          <a:lstStyle/>
          <a:p>
            <a:pPr indent="0" marL="0">
              <a:buNone/>
            </a:pPr>
            <a:r>
              <a:rPr lang="en-US" sz="1600" b="1" dirty="0">
                <a:solidFill>
                  <a:schemeClr val="accent3"/>
                </a:solidFill>
              </a:rPr>
              <a:t>R source compile budget</a:t>
            </a:r>
            <a:endParaRPr lang="en-US" sz="1600" dirty="0"/>
          </a:p>
        </p:txBody>
      </p:sp>
      <p:sp>
        <p:nvSpPr>
          <p:cNvPr id="21" name="Text 19"/>
          <p:cNvSpPr txBox="1"/>
          <p:nvPr/>
        </p:nvSpPr>
        <p:spPr>
          <a:xfrm>
            <a:off x="731520" y="4572000"/>
            <a:ext cx="2286000" cy="914400"/>
          </a:xfrm>
          <a:prstGeom prst="rect">
            <a:avLst/>
          </a:prstGeom>
          <a:noFill/>
          <a:ln/>
        </p:spPr>
        <p:txBody>
          <a:bodyPr wrap="square" lIns="0" tIns="0" rIns="0" bIns="0" rtlCol="0" anchor="t"/>
          <a:lstStyle/>
          <a:p>
            <a:pPr indent="0" marL="0">
              <a:buNone/>
            </a:pPr>
            <a:r>
              <a:rPr lang="en-US" sz="1400" dirty="0">
                <a:solidFill>
                  <a:schemeClr val="tx1"/>
                </a:solidFill>
              </a:rPr>
              <a:t>Compile exceeds the 600 s build timeout</a:t>
            </a:r>
            <a:endParaRPr lang="en-US" sz="1400" dirty="0"/>
          </a:p>
        </p:txBody>
      </p:sp>
      <p:sp>
        <p:nvSpPr>
          <p:cNvPr id="22" name="Text 20"/>
          <p:cNvSpPr txBox="1"/>
          <p:nvPr/>
        </p:nvSpPr>
        <p:spPr>
          <a:xfrm>
            <a:off x="731520" y="5577840"/>
            <a:ext cx="2286000" cy="274320"/>
          </a:xfrm>
          <a:prstGeom prst="rect">
            <a:avLst/>
          </a:prstGeom>
          <a:noFill/>
          <a:ln/>
        </p:spPr>
        <p:txBody>
          <a:bodyPr wrap="square" lIns="0" tIns="0" rIns="0" bIns="0" rtlCol="0" anchor="t"/>
          <a:lstStyle/>
          <a:p>
            <a:pPr indent="0" marL="0">
              <a:buNone/>
            </a:pPr>
            <a:r>
              <a:rPr lang="en-US" sz="1200" i="1" dirty="0">
                <a:solidFill>
                  <a:schemeClr val="accent5"/>
                </a:solidFill>
              </a:rPr>
              <a:t>epimodel</a:t>
            </a:r>
            <a:endParaRPr lang="en-US" sz="1200" dirty="0"/>
          </a:p>
        </p:txBody>
      </p:sp>
      <p:sp>
        <p:nvSpPr>
          <p:cNvPr id="23" name="gap-5"/>
          <p:cNvSpPr/>
          <p:nvPr/>
        </p:nvSpPr>
        <p:spPr>
          <a:xfrm>
            <a:off x="3353105" y="3840480"/>
            <a:ext cx="2651760" cy="2194560"/>
          </a:xfrm>
          <a:prstGeom prst="roundRect">
            <a:avLst>
              <a:gd name="adj" fmla="val 3333"/>
            </a:avLst>
          </a:prstGeom>
          <a:solidFill>
            <a:schemeClr val="bg2"/>
          </a:solidFill>
          <a:ln/>
          <a:effectLst>
            <a:outerShdw sx="100000" sy="100000" kx="0" ky="0" algn="bl" rotWithShape="0" blurRad="76200" dist="25400" dir="5400000">
              <a:srgbClr val="0F2A33">
                <a:alpha val="12000"/>
              </a:srgbClr>
            </a:outerShdw>
          </a:effectLst>
        </p:spPr>
      </p:sp>
      <p:sp>
        <p:nvSpPr>
          <p:cNvPr id="24" name="Text 22"/>
          <p:cNvSpPr txBox="1"/>
          <p:nvPr/>
        </p:nvSpPr>
        <p:spPr>
          <a:xfrm>
            <a:off x="3535985" y="3977640"/>
            <a:ext cx="2286000" cy="548640"/>
          </a:xfrm>
          <a:prstGeom prst="rect">
            <a:avLst/>
          </a:prstGeom>
          <a:noFill/>
          <a:ln/>
        </p:spPr>
        <p:txBody>
          <a:bodyPr wrap="square" lIns="0" tIns="0" rIns="0" bIns="0" rtlCol="0" anchor="t"/>
          <a:lstStyle/>
          <a:p>
            <a:pPr indent="0" marL="0">
              <a:buNone/>
            </a:pPr>
            <a:r>
              <a:rPr lang="en-US" sz="1600" b="1" dirty="0">
                <a:solidFill>
                  <a:schemeClr val="accent3"/>
                </a:solidFill>
              </a:rPr>
              <a:t>Run-time downloads</a:t>
            </a:r>
            <a:endParaRPr lang="en-US" sz="1600" dirty="0"/>
          </a:p>
        </p:txBody>
      </p:sp>
      <p:sp>
        <p:nvSpPr>
          <p:cNvPr id="25" name="Text 23"/>
          <p:cNvSpPr txBox="1"/>
          <p:nvPr/>
        </p:nvSpPr>
        <p:spPr>
          <a:xfrm>
            <a:off x="3535985" y="4572000"/>
            <a:ext cx="2286000" cy="914400"/>
          </a:xfrm>
          <a:prstGeom prst="rect">
            <a:avLst/>
          </a:prstGeom>
          <a:noFill/>
          <a:ln/>
        </p:spPr>
        <p:txBody>
          <a:bodyPr wrap="square" lIns="0" tIns="0" rIns="0" bIns="0" rtlCol="0" anchor="t"/>
          <a:lstStyle/>
          <a:p>
            <a:pPr indent="0" marL="0">
              <a:buNone/>
            </a:pPr>
            <a:r>
              <a:rPr lang="en-US" sz="1400" dirty="0">
                <a:solidFill>
                  <a:schemeClr val="tx1"/>
                </a:solidFill>
              </a:rPr>
              <a:t>Example fetches data, but verification has no egress</a:t>
            </a:r>
            <a:endParaRPr lang="en-US" sz="1400" dirty="0"/>
          </a:p>
        </p:txBody>
      </p:sp>
      <p:sp>
        <p:nvSpPr>
          <p:cNvPr id="26" name="Text 24"/>
          <p:cNvSpPr txBox="1"/>
          <p:nvPr/>
        </p:nvSpPr>
        <p:spPr>
          <a:xfrm>
            <a:off x="3535985" y="5577840"/>
            <a:ext cx="2286000" cy="274320"/>
          </a:xfrm>
          <a:prstGeom prst="rect">
            <a:avLst/>
          </a:prstGeom>
          <a:noFill/>
          <a:ln/>
        </p:spPr>
        <p:txBody>
          <a:bodyPr wrap="square" lIns="0" tIns="0" rIns="0" bIns="0" rtlCol="0" anchor="t"/>
          <a:lstStyle/>
          <a:p>
            <a:pPr indent="0" marL="0">
              <a:buNone/>
            </a:pPr>
            <a:r>
              <a:rPr lang="en-US" sz="1200" i="1" dirty="0">
                <a:solidFill>
                  <a:schemeClr val="accent5"/>
                </a:solidFill>
              </a:rPr>
              <a:t>PhysiCell</a:t>
            </a:r>
            <a:endParaRPr lang="en-US" sz="1200" dirty="0"/>
          </a:p>
        </p:txBody>
      </p:sp>
      <p:sp>
        <p:nvSpPr>
          <p:cNvPr id="27" name="gap-6"/>
          <p:cNvSpPr/>
          <p:nvPr/>
        </p:nvSpPr>
        <p:spPr>
          <a:xfrm>
            <a:off x="6157570" y="3840480"/>
            <a:ext cx="2651760" cy="2194560"/>
          </a:xfrm>
          <a:prstGeom prst="roundRect">
            <a:avLst>
              <a:gd name="adj" fmla="val 3333"/>
            </a:avLst>
          </a:prstGeom>
          <a:solidFill>
            <a:schemeClr val="bg2"/>
          </a:solidFill>
          <a:ln/>
          <a:effectLst>
            <a:outerShdw sx="100000" sy="100000" kx="0" ky="0" algn="bl" rotWithShape="0" blurRad="76200" dist="25400" dir="5400000">
              <a:srgbClr val="0F2A33">
                <a:alpha val="12000"/>
              </a:srgbClr>
            </a:outerShdw>
          </a:effectLst>
        </p:spPr>
      </p:sp>
      <p:sp>
        <p:nvSpPr>
          <p:cNvPr id="28" name="Text 26"/>
          <p:cNvSpPr txBox="1"/>
          <p:nvPr/>
        </p:nvSpPr>
        <p:spPr>
          <a:xfrm>
            <a:off x="6340450" y="3977640"/>
            <a:ext cx="2286000" cy="548640"/>
          </a:xfrm>
          <a:prstGeom prst="rect">
            <a:avLst/>
          </a:prstGeom>
          <a:noFill/>
          <a:ln/>
        </p:spPr>
        <p:txBody>
          <a:bodyPr wrap="square" lIns="0" tIns="0" rIns="0" bIns="0" rtlCol="0" anchor="t"/>
          <a:lstStyle/>
          <a:p>
            <a:pPr indent="0" marL="0">
              <a:buNone/>
            </a:pPr>
            <a:r>
              <a:rPr lang="en-US" sz="1600" b="1" dirty="0">
                <a:solidFill>
                  <a:schemeClr val="accent3"/>
                </a:solidFill>
              </a:rPr>
              <a:t>Slow examples</a:t>
            </a:r>
            <a:endParaRPr lang="en-US" sz="1600" dirty="0"/>
          </a:p>
        </p:txBody>
      </p:sp>
      <p:sp>
        <p:nvSpPr>
          <p:cNvPr id="29" name="Text 27"/>
          <p:cNvSpPr txBox="1"/>
          <p:nvPr/>
        </p:nvSpPr>
        <p:spPr>
          <a:xfrm>
            <a:off x="6340450" y="4572000"/>
            <a:ext cx="2286000" cy="914400"/>
          </a:xfrm>
          <a:prstGeom prst="rect">
            <a:avLst/>
          </a:prstGeom>
          <a:noFill/>
          <a:ln/>
        </p:spPr>
        <p:txBody>
          <a:bodyPr wrap="square" lIns="0" tIns="0" rIns="0" bIns="0" rtlCol="0" anchor="t"/>
          <a:lstStyle/>
          <a:p>
            <a:pPr indent="0" marL="0">
              <a:buNone/>
            </a:pPr>
            <a:r>
              <a:rPr lang="en-US" sz="1400" dirty="0">
                <a:solidFill>
                  <a:schemeClr val="tx1"/>
                </a:solidFill>
              </a:rPr>
              <a:t>L3 capped at 1800 s; wall-clock budget can run out</a:t>
            </a:r>
            <a:endParaRPr lang="en-US" sz="1400" dirty="0"/>
          </a:p>
        </p:txBody>
      </p:sp>
      <p:sp>
        <p:nvSpPr>
          <p:cNvPr id="30" name="Text 28"/>
          <p:cNvSpPr txBox="1"/>
          <p:nvPr/>
        </p:nvSpPr>
        <p:spPr>
          <a:xfrm>
            <a:off x="6340450" y="5577840"/>
            <a:ext cx="2286000" cy="274320"/>
          </a:xfrm>
          <a:prstGeom prst="rect">
            <a:avLst/>
          </a:prstGeom>
          <a:noFill/>
          <a:ln/>
        </p:spPr>
        <p:txBody>
          <a:bodyPr wrap="square" lIns="0" tIns="0" rIns="0" bIns="0" rtlCol="0" anchor="t"/>
          <a:lstStyle/>
          <a:p>
            <a:pPr indent="0" marL="0">
              <a:buNone/>
            </a:pPr>
            <a:r>
              <a:rPr lang="en-US" sz="1200" i="1" dirty="0">
                <a:solidFill>
                  <a:schemeClr val="accent5"/>
                </a:solidFill>
              </a:rPr>
              <a:t>viva-munk</a:t>
            </a:r>
            <a:endParaRPr lang="en-US" sz="1200" dirty="0"/>
          </a:p>
        </p:txBody>
      </p:sp>
      <p:sp>
        <p:nvSpPr>
          <p:cNvPr id="31" name="gap-summary"/>
          <p:cNvSpPr/>
          <p:nvPr/>
        </p:nvSpPr>
        <p:spPr>
          <a:xfrm>
            <a:off x="8962034" y="3840480"/>
            <a:ext cx="2651760" cy="2194560"/>
          </a:xfrm>
          <a:prstGeom prst="roundRect">
            <a:avLst>
              <a:gd name="adj" fmla="val 3333"/>
            </a:avLst>
          </a:prstGeom>
          <a:solidFill>
            <a:schemeClr val="accent1"/>
          </a:solidFill>
          <a:ln/>
        </p:spPr>
      </p:sp>
      <p:sp>
        <p:nvSpPr>
          <p:cNvPr id="32" name="Text 30"/>
          <p:cNvSpPr txBox="1"/>
          <p:nvPr/>
        </p:nvSpPr>
        <p:spPr>
          <a:xfrm>
            <a:off x="9144914" y="3977640"/>
            <a:ext cx="2286000" cy="1920240"/>
          </a:xfrm>
          <a:prstGeom prst="rect">
            <a:avLst/>
          </a:prstGeom>
          <a:noFill/>
          <a:ln/>
        </p:spPr>
        <p:txBody>
          <a:bodyPr wrap="square" lIns="0" tIns="0" rIns="0" bIns="0" rtlCol="0" anchor="t"/>
          <a:lstStyle/>
          <a:p>
            <a:pPr indent="0" marL="0">
              <a:buNone/>
            </a:pPr>
            <a:r>
              <a:rPr lang="en-US" sz="1600" b="1" dirty="0">
                <a:solidFill>
                  <a:schemeClr val="bg1"/>
                </a:solidFill>
              </a:rPr>
              <a:t>The outcome</a:t>
            </a:r>
            <a:endParaRPr lang="en-US" sz="1400" dirty="0"/>
          </a:p>
          <a:p>
            <a:pPr indent="0" marL="0">
              <a:buNone/>
            </a:pPr>
            <a:r>
              <a:rPr lang="en-US" sz="1400" dirty="0">
                <a:solidFill>
                  <a:schemeClr val="bg1"/>
                </a:solidFill>
              </a:rPr>
              <a:t>Each ends as escalated or failed with a reason string. Never a false green.</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8086"/>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731520" y="548640"/>
            <a:ext cx="10515600" cy="914400"/>
          </a:xfrm>
          <a:prstGeom prst="rect">
            <a:avLst/>
          </a:prstGeom>
          <a:noFill/>
          <a:ln/>
        </p:spPr>
        <p:txBody>
          <a:bodyPr wrap="square" lIns="0" tIns="0" rIns="0" bIns="0" rtlCol="0" anchor="ctr"/>
          <a:lstStyle/>
          <a:p>
            <a:pPr indent="0" marL="0">
              <a:buNone/>
            </a:pPr>
            <a:r>
              <a:rPr lang="en-US" sz="4000" b="1" dirty="0">
                <a:solidFill>
                  <a:schemeClr val="bg1"/>
                </a:solidFill>
                <a:latin typeface="Cambria" pitchFamily="34" charset="0"/>
                <a:ea typeface="Cambria" pitchFamily="34" charset="-122"/>
                <a:cs typeface="Cambria" pitchFamily="34" charset="-120"/>
              </a:rPr>
              <a:t>Before we wire it in</a:t>
            </a:r>
            <a:endParaRPr lang="en-US" sz="4000" dirty="0"/>
          </a:p>
        </p:txBody>
      </p:sp>
      <p:sp>
        <p:nvSpPr>
          <p:cNvPr id="3" name="num-0"/>
          <p:cNvSpPr/>
          <p:nvPr/>
        </p:nvSpPr>
        <p:spPr>
          <a:xfrm>
            <a:off x="731520" y="1828800"/>
            <a:ext cx="548640" cy="548640"/>
          </a:xfrm>
          <a:prstGeom prst="ellipse">
            <a:avLst/>
          </a:prstGeom>
          <a:solidFill>
            <a:srgbClr val="F2A33A"/>
          </a:solidFill>
          <a:ln/>
        </p:spPr>
      </p:sp>
      <p:sp>
        <p:nvSpPr>
          <p:cNvPr id="4" name="Text 2"/>
          <p:cNvSpPr txBox="1"/>
          <p:nvPr/>
        </p:nvSpPr>
        <p:spPr>
          <a:xfrm>
            <a:off x="731520" y="1828800"/>
            <a:ext cx="548640" cy="548640"/>
          </a:xfrm>
          <a:prstGeom prst="rect">
            <a:avLst/>
          </a:prstGeom>
          <a:noFill/>
          <a:ln/>
        </p:spPr>
        <p:txBody>
          <a:bodyPr wrap="square" lIns="0" tIns="0" rIns="0" bIns="0" rtlCol="0" anchor="ctr"/>
          <a:lstStyle/>
          <a:p>
            <a:pPr algn="ctr" indent="0" marL="0">
              <a:buNone/>
            </a:pPr>
            <a:r>
              <a:rPr lang="en-US" sz="2000" b="1" dirty="0">
                <a:solidFill>
                  <a:srgbClr val="0F2A33"/>
                </a:solidFill>
              </a:rPr>
              <a:t>1</a:t>
            </a:r>
            <a:endParaRPr lang="en-US" sz="2000" dirty="0"/>
          </a:p>
        </p:txBody>
      </p:sp>
      <p:sp>
        <p:nvSpPr>
          <p:cNvPr id="5" name="Text 3"/>
          <p:cNvSpPr txBox="1"/>
          <p:nvPr/>
        </p:nvSpPr>
        <p:spPr>
          <a:xfrm>
            <a:off x="1508760" y="1828800"/>
            <a:ext cx="4206240" cy="457200"/>
          </a:xfrm>
          <a:prstGeom prst="rect">
            <a:avLst/>
          </a:prstGeom>
          <a:noFill/>
          <a:ln/>
        </p:spPr>
        <p:txBody>
          <a:bodyPr wrap="square" lIns="0" tIns="0" rIns="0" bIns="0" rtlCol="0" anchor="ctr"/>
          <a:lstStyle/>
          <a:p>
            <a:pPr indent="0" marL="0">
              <a:buNone/>
            </a:pPr>
            <a:r>
              <a:rPr lang="en-US" sz="2000" b="1" dirty="0">
                <a:solidFill>
                  <a:schemeClr val="bg1"/>
                </a:solidFill>
              </a:rPr>
              <a:t>Trust boundary</a:t>
            </a:r>
            <a:endParaRPr lang="en-US" sz="2000" dirty="0"/>
          </a:p>
        </p:txBody>
      </p:sp>
      <p:sp>
        <p:nvSpPr>
          <p:cNvPr id="6" name="Text 4"/>
          <p:cNvSpPr txBox="1"/>
          <p:nvPr/>
        </p:nvSpPr>
        <p:spPr>
          <a:xfrm>
            <a:off x="1508760" y="2423160"/>
            <a:ext cx="4206240" cy="1371600"/>
          </a:xfrm>
          <a:prstGeom prst="rect">
            <a:avLst/>
          </a:prstGeom>
          <a:noFill/>
          <a:ln/>
        </p:spPr>
        <p:txBody>
          <a:bodyPr wrap="square" lIns="0" tIns="0" rIns="0" bIns="0" rtlCol="0" anchor="t"/>
          <a:lstStyle/>
          <a:p>
            <a:pPr indent="0" marL="0">
              <a:buNone/>
            </a:pPr>
            <a:r>
              <a:rPr lang="en-US" sz="1400" dirty="0">
                <a:solidFill>
                  <a:srgbClr val="CADCDF"/>
                </a:solidFill>
              </a:rPr>
              <a:t>Phase 0 is for vouched repos only: verification runs model code with no real sandbox. Public submissions need gVisor or ephemeral namespaces first.</a:t>
            </a:r>
            <a:endParaRPr lang="en-US" sz="1400" dirty="0"/>
          </a:p>
        </p:txBody>
      </p:sp>
      <p:sp>
        <p:nvSpPr>
          <p:cNvPr id="7" name="num-1"/>
          <p:cNvSpPr/>
          <p:nvPr/>
        </p:nvSpPr>
        <p:spPr>
          <a:xfrm>
            <a:off x="6217920" y="1828800"/>
            <a:ext cx="548640" cy="548640"/>
          </a:xfrm>
          <a:prstGeom prst="ellipse">
            <a:avLst/>
          </a:prstGeom>
          <a:solidFill>
            <a:srgbClr val="F2A33A"/>
          </a:solidFill>
          <a:ln/>
        </p:spPr>
      </p:sp>
      <p:sp>
        <p:nvSpPr>
          <p:cNvPr id="8" name="Text 6"/>
          <p:cNvSpPr txBox="1"/>
          <p:nvPr/>
        </p:nvSpPr>
        <p:spPr>
          <a:xfrm>
            <a:off x="6217920" y="1828800"/>
            <a:ext cx="548640" cy="548640"/>
          </a:xfrm>
          <a:prstGeom prst="rect">
            <a:avLst/>
          </a:prstGeom>
          <a:noFill/>
          <a:ln/>
        </p:spPr>
        <p:txBody>
          <a:bodyPr wrap="square" lIns="0" tIns="0" rIns="0" bIns="0" rtlCol="0" anchor="ctr"/>
          <a:lstStyle/>
          <a:p>
            <a:pPr algn="ctr" indent="0" marL="0">
              <a:buNone/>
            </a:pPr>
            <a:r>
              <a:rPr lang="en-US" sz="2000" b="1" dirty="0">
                <a:solidFill>
                  <a:srgbClr val="0F2A33"/>
                </a:solidFill>
              </a:rPr>
              <a:t>2</a:t>
            </a:r>
            <a:endParaRPr lang="en-US" sz="2000" dirty="0"/>
          </a:p>
        </p:txBody>
      </p:sp>
      <p:sp>
        <p:nvSpPr>
          <p:cNvPr id="9" name="Text 7"/>
          <p:cNvSpPr txBox="1"/>
          <p:nvPr/>
        </p:nvSpPr>
        <p:spPr>
          <a:xfrm>
            <a:off x="6995160" y="1828800"/>
            <a:ext cx="4206240" cy="457200"/>
          </a:xfrm>
          <a:prstGeom prst="rect">
            <a:avLst/>
          </a:prstGeom>
          <a:noFill/>
          <a:ln/>
        </p:spPr>
        <p:txBody>
          <a:bodyPr wrap="square" lIns="0" tIns="0" rIns="0" bIns="0" rtlCol="0" anchor="ctr"/>
          <a:lstStyle/>
          <a:p>
            <a:pPr indent="0" marL="0">
              <a:buNone/>
            </a:pPr>
            <a:r>
              <a:rPr lang="en-US" sz="2000" b="1" dirty="0">
                <a:solidFill>
                  <a:schemeClr val="bg1"/>
                </a:solidFill>
              </a:rPr>
              <a:t>Trigger and queue</a:t>
            </a:r>
            <a:endParaRPr lang="en-US" sz="2000" dirty="0"/>
          </a:p>
        </p:txBody>
      </p:sp>
      <p:sp>
        <p:nvSpPr>
          <p:cNvPr id="10" name="Text 8"/>
          <p:cNvSpPr txBox="1"/>
          <p:nvPr/>
        </p:nvSpPr>
        <p:spPr>
          <a:xfrm>
            <a:off x="6995160" y="2423160"/>
            <a:ext cx="4206240" cy="1371600"/>
          </a:xfrm>
          <a:prstGeom prst="rect">
            <a:avLst/>
          </a:prstGeom>
          <a:noFill/>
          <a:ln/>
        </p:spPr>
        <p:txBody>
          <a:bodyPr wrap="square" lIns="0" tIns="0" rIns="0" bIns="0" rtlCol="0" anchor="t"/>
          <a:lstStyle/>
          <a:p>
            <a:pPr indent="0" marL="0">
              <a:buNone/>
            </a:pPr>
            <a:r>
              <a:rPr lang="en-US" sz="1400" dirty="0">
                <a:solidFill>
                  <a:srgbClr val="CADCDF"/>
                </a:solidFill>
              </a:rPr>
              <a:t>Decide who launches the Job, concurrency limits, and where status lives on the model record.</a:t>
            </a:r>
            <a:endParaRPr lang="en-US" sz="1400" dirty="0"/>
          </a:p>
        </p:txBody>
      </p:sp>
      <p:sp>
        <p:nvSpPr>
          <p:cNvPr id="11" name="num-2"/>
          <p:cNvSpPr/>
          <p:nvPr/>
        </p:nvSpPr>
        <p:spPr>
          <a:xfrm>
            <a:off x="731520" y="4023360"/>
            <a:ext cx="548640" cy="548640"/>
          </a:xfrm>
          <a:prstGeom prst="ellipse">
            <a:avLst/>
          </a:prstGeom>
          <a:solidFill>
            <a:srgbClr val="F2A33A"/>
          </a:solidFill>
          <a:ln/>
        </p:spPr>
      </p:sp>
      <p:sp>
        <p:nvSpPr>
          <p:cNvPr id="12" name="Text 10"/>
          <p:cNvSpPr txBox="1"/>
          <p:nvPr/>
        </p:nvSpPr>
        <p:spPr>
          <a:xfrm>
            <a:off x="731520" y="4023360"/>
            <a:ext cx="548640" cy="548640"/>
          </a:xfrm>
          <a:prstGeom prst="rect">
            <a:avLst/>
          </a:prstGeom>
          <a:noFill/>
          <a:ln/>
        </p:spPr>
        <p:txBody>
          <a:bodyPr wrap="square" lIns="0" tIns="0" rIns="0" bIns="0" rtlCol="0" anchor="ctr"/>
          <a:lstStyle/>
          <a:p>
            <a:pPr algn="ctr" indent="0" marL="0">
              <a:buNone/>
            </a:pPr>
            <a:r>
              <a:rPr lang="en-US" sz="2000" b="1" dirty="0">
                <a:solidFill>
                  <a:srgbClr val="0F2A33"/>
                </a:solidFill>
              </a:rPr>
              <a:t>3</a:t>
            </a:r>
            <a:endParaRPr lang="en-US" sz="2000" dirty="0"/>
          </a:p>
        </p:txBody>
      </p:sp>
      <p:sp>
        <p:nvSpPr>
          <p:cNvPr id="13" name="Text 11"/>
          <p:cNvSpPr txBox="1"/>
          <p:nvPr/>
        </p:nvSpPr>
        <p:spPr>
          <a:xfrm>
            <a:off x="1508760" y="4023360"/>
            <a:ext cx="4206240" cy="457200"/>
          </a:xfrm>
          <a:prstGeom prst="rect">
            <a:avLst/>
          </a:prstGeom>
          <a:noFill/>
          <a:ln/>
        </p:spPr>
        <p:txBody>
          <a:bodyPr wrap="square" lIns="0" tIns="0" rIns="0" bIns="0" rtlCol="0" anchor="ctr"/>
          <a:lstStyle/>
          <a:p>
            <a:pPr indent="0" marL="0">
              <a:buNone/>
            </a:pPr>
            <a:r>
              <a:rPr lang="en-US" sz="2000" b="1" dirty="0">
                <a:solidFill>
                  <a:schemeClr val="bg1"/>
                </a:solidFill>
              </a:rPr>
              <a:t>Annotated re-measure</a:t>
            </a:r>
            <a:endParaRPr lang="en-US" sz="2000" dirty="0"/>
          </a:p>
        </p:txBody>
      </p:sp>
      <p:sp>
        <p:nvSpPr>
          <p:cNvPr id="14" name="Text 12"/>
          <p:cNvSpPr txBox="1"/>
          <p:nvPr/>
        </p:nvSpPr>
        <p:spPr>
          <a:xfrm>
            <a:off x="1508760" y="4617720"/>
            <a:ext cx="4206240" cy="1371600"/>
          </a:xfrm>
          <a:prstGeom prst="rect">
            <a:avLst/>
          </a:prstGeom>
          <a:noFill/>
          <a:ln/>
        </p:spPr>
        <p:txBody>
          <a:bodyPr wrap="square" lIns="0" tIns="0" rIns="0" bIns="0" rtlCol="0" anchor="t"/>
          <a:lstStyle/>
          <a:p>
            <a:pPr indent="0" marL="0">
              <a:buNone/>
            </a:pPr>
            <a:r>
              <a:rPr lang="en-US" sz="1400" dirty="0">
                <a:solidFill>
                  <a:srgbClr val="CADCDF"/>
                </a:solidFill>
              </a:rPr>
              <a:t>Re-run the hold-out with reviewed annotations to see how much coverage the review step buys.</a:t>
            </a:r>
            <a:endParaRPr lang="en-US" sz="1400" dirty="0"/>
          </a:p>
        </p:txBody>
      </p:sp>
      <p:sp>
        <p:nvSpPr>
          <p:cNvPr id="15" name="num-3"/>
          <p:cNvSpPr/>
          <p:nvPr/>
        </p:nvSpPr>
        <p:spPr>
          <a:xfrm>
            <a:off x="6217920" y="4023360"/>
            <a:ext cx="548640" cy="548640"/>
          </a:xfrm>
          <a:prstGeom prst="ellipse">
            <a:avLst/>
          </a:prstGeom>
          <a:solidFill>
            <a:srgbClr val="F2A33A"/>
          </a:solidFill>
          <a:ln/>
        </p:spPr>
      </p:sp>
      <p:sp>
        <p:nvSpPr>
          <p:cNvPr id="16" name="Text 14"/>
          <p:cNvSpPr txBox="1"/>
          <p:nvPr/>
        </p:nvSpPr>
        <p:spPr>
          <a:xfrm>
            <a:off x="6217920" y="4023360"/>
            <a:ext cx="548640" cy="548640"/>
          </a:xfrm>
          <a:prstGeom prst="rect">
            <a:avLst/>
          </a:prstGeom>
          <a:noFill/>
          <a:ln/>
        </p:spPr>
        <p:txBody>
          <a:bodyPr wrap="square" lIns="0" tIns="0" rIns="0" bIns="0" rtlCol="0" anchor="ctr"/>
          <a:lstStyle/>
          <a:p>
            <a:pPr algn="ctr" indent="0" marL="0">
              <a:buNone/>
            </a:pPr>
            <a:r>
              <a:rPr lang="en-US" sz="2000" b="1" dirty="0">
                <a:solidFill>
                  <a:srgbClr val="0F2A33"/>
                </a:solidFill>
              </a:rPr>
              <a:t>4</a:t>
            </a:r>
            <a:endParaRPr lang="en-US" sz="2000" dirty="0"/>
          </a:p>
        </p:txBody>
      </p:sp>
      <p:sp>
        <p:nvSpPr>
          <p:cNvPr id="17" name="Text 15"/>
          <p:cNvSpPr txBox="1"/>
          <p:nvPr/>
        </p:nvSpPr>
        <p:spPr>
          <a:xfrm>
            <a:off x="6995160" y="4023360"/>
            <a:ext cx="4206240" cy="457200"/>
          </a:xfrm>
          <a:prstGeom prst="rect">
            <a:avLst/>
          </a:prstGeom>
          <a:noFill/>
          <a:ln/>
        </p:spPr>
        <p:txBody>
          <a:bodyPr wrap="square" lIns="0" tIns="0" rIns="0" bIns="0" rtlCol="0" anchor="ctr"/>
          <a:lstStyle/>
          <a:p>
            <a:pPr indent="0" marL="0">
              <a:buNone/>
            </a:pPr>
            <a:r>
              <a:rPr lang="en-US" sz="2000" b="1" dirty="0">
                <a:solidFill>
                  <a:schemeClr val="bg1"/>
                </a:solidFill>
              </a:rPr>
              <a:t>Close coverage gaps</a:t>
            </a:r>
            <a:endParaRPr lang="en-US" sz="2000" dirty="0"/>
          </a:p>
        </p:txBody>
      </p:sp>
      <p:sp>
        <p:nvSpPr>
          <p:cNvPr id="18" name="Text 16"/>
          <p:cNvSpPr txBox="1"/>
          <p:nvPr/>
        </p:nvSpPr>
        <p:spPr>
          <a:xfrm>
            <a:off x="6995160" y="4617720"/>
            <a:ext cx="4206240" cy="1371600"/>
          </a:xfrm>
          <a:prstGeom prst="rect">
            <a:avLst/>
          </a:prstGeom>
          <a:noFill/>
          <a:ln/>
        </p:spPr>
        <p:txBody>
          <a:bodyPr wrap="square" lIns="0" tIns="0" rIns="0" bIns="0" rtlCol="0" anchor="t"/>
          <a:lstStyle/>
          <a:p>
            <a:pPr indent="0" marL="0">
              <a:buNone/>
            </a:pPr>
            <a:r>
              <a:rPr lang="en-US" sz="1400" dirty="0">
                <a:solidFill>
                  <a:srgbClr val="CADCDF"/>
                </a:solidFill>
              </a:rPr>
              <a:t>VCS dependencies and compiled binaries are the two largest general mechanisms still missing.</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DB4B8"/>
                </a:solidFill>
              </a:defRPr>
            </a:lvl1pPr>
          </a:lstStyle>
          <a:p>
            <a:pPr algn="l"/>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envagent">
  <a:themeElements>
    <a:clrScheme name="envagent">
      <a:dk1>
        <a:srgbClr val="0F2A33"/>
      </a:dk1>
      <a:lt1>
        <a:srgbClr val="FFFFFF"/>
      </a:lt1>
      <a:dk2>
        <a:srgbClr val="1B4B54"/>
      </a:dk2>
      <a:lt2>
        <a:srgbClr val="EAF1F0"/>
      </a:lt2>
      <a:accent1>
        <a:srgbClr val="1B7F79"/>
      </a:accent1>
      <a:accent2>
        <a:srgbClr val="F2A33A"/>
      </a:accent2>
      <a:accent3>
        <a:srgbClr val="C8553D"/>
      </a:accent3>
      <a:accent4>
        <a:srgbClr val="5B8DB8"/>
      </a:accent4>
      <a:accent5>
        <a:srgbClr val="6B8086"/>
      </a:accent5>
      <a:accent6>
        <a:srgbClr val="3E9E6B"/>
      </a:accent6>
      <a:hlink>
        <a:srgbClr val="1B7F79"/>
      </a:hlink>
      <a:folHlink>
        <a:srgbClr val="6B8086"/>
      </a:folHlink>
    </a:clrScheme>
    <a:fontScheme name="envagen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envagent: automatic environments for registered models</dc:title>
  <dc:subject>PptxGenJS Presentation</dc:subject>
  <dc:creator>MISM</dc:creator>
  <cp:lastModifiedBy>MISM</cp:lastModifiedBy>
  <cp:revision>1</cp:revision>
  <dcterms:created xsi:type="dcterms:W3CDTF">2026-10-06T17:16:04Z</dcterms:created>
  <dcterms:modified xsi:type="dcterms:W3CDTF">2026-10-06T17:16:04Z</dcterms:modified>
</cp:coreProperties>
</file>